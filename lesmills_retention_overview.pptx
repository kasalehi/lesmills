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the audience.</a:t>
            </a:r>
          </a:p>
          <a:p/>
          <a:p>
            <a:r>
              <a:t>Talking points:</a:t>
            </a:r>
          </a:p>
          <a:p>
            <a:r>
              <a:t>- This platform predicts which Les Mills members are most likely to cancel.</a:t>
            </a:r>
          </a:p>
          <a:p>
            <a:r>
              <a:t>- It uses Machine Learning, but we will explain everything in plain language.</a:t>
            </a:r>
          </a:p>
          <a:p>
            <a:r>
              <a:t>- The presentation has two parts:</a:t>
            </a:r>
          </a:p>
          <a:p>
            <a:r>
              <a:t>  1) What the platform does and why it matters (slides 2 to 13).</a:t>
            </a:r>
          </a:p>
          <a:p>
            <a:r>
              <a:t>  2) How the team runs and debugs it day-to-day (slides 15 to 25), including visual flowcharts and the actual Airflow DAGs.</a:t>
            </a:r>
          </a:p>
          <a:p>
            <a:r>
              <a:t>- Encourage stakeholders to interrupt with questions.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Goal of this slide: explain in one breath what the project is.</a:t>
            </a:r>
          </a:p>
          <a:p/>
          <a:p>
            <a:r>
              <a:t>Plain-language framing:</a:t>
            </a:r>
          </a:p>
          <a:p>
            <a:r>
              <a:t>- Think of it like a smoke detector for membership cancellations.</a:t>
            </a:r>
          </a:p>
          <a:p>
            <a:r>
              <a:t>- It looks at member behaviour and flags people who look "at risk" of leaving.</a:t>
            </a:r>
          </a:p>
          <a:p>
            <a:r>
              <a:t>- The business can then reach out with a discount, a class invite, or a phone call.</a:t>
            </a:r>
          </a:p>
          <a:p/>
          <a:p>
            <a:r>
              <a:t>Avoid jargon. If asked "what is ML?" just say:</a:t>
            </a:r>
          </a:p>
          <a:p>
            <a:r>
              <a:t>- "It's a way for computers to learn patterns from past data and use those patterns to make a prediction about new data."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this matters to the business:</a:t>
            </a:r>
          </a:p>
          <a:p>
            <a:r>
              <a:t>- Acquiring a new member typically costs 5x to 7x more than retaining one.</a:t>
            </a:r>
          </a:p>
          <a:p>
            <a:r>
              <a:t>- Even a 1% improvement in retention has a meaningful impact on annual revenue.</a:t>
            </a:r>
          </a:p>
          <a:p>
            <a:r>
              <a:t>- The platform turns "we lost a member" into "we knew this was coming and tried to stop it."</a:t>
            </a:r>
          </a:p>
          <a:p/>
          <a:p>
            <a:r>
              <a:t>Use these talking points if asked for ROI:</a:t>
            </a:r>
          </a:p>
          <a:p>
            <a:r>
              <a:t>- We can quantify benefit by tracking the conversion rate of saved members vs. control group.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left-to-right through the pipeline:</a:t>
            </a:r>
          </a:p>
          <a:p/>
          <a:p>
            <a:r>
              <a:t>1) Data: We read member records from SQL Server (visits, joins, cancellations, etc.).</a:t>
            </a:r>
          </a:p>
          <a:p>
            <a:r>
              <a:t>2) Pipeline: An automated workflow (Apache Airflow, running inside Docker via "Astro") prepares and cleans the data.</a:t>
            </a:r>
          </a:p>
          <a:p>
            <a:r>
              <a:t>3) Model: A trained Machine Learning model assigns each member a "risk of leaving" score.</a:t>
            </a:r>
          </a:p>
          <a:p>
            <a:r>
              <a:t>4) Results: The output is saved as a CSV file (predictions.csv) so it can be read easily.</a:t>
            </a:r>
          </a:p>
          <a:p>
            <a:r>
              <a:t>5) Dashboard: A web page (built with Streamlit) lets the business view results without using code.</a:t>
            </a:r>
          </a:p>
          <a:p/>
          <a:p>
            <a:r>
              <a:t>The entire chain is automated — it runs without anyone touching it.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Stakeholder-friendly analogies:</a:t>
            </a:r>
          </a:p>
          <a:p>
            <a:r>
              <a:t>- SQL Server: a giant filing cabinet of member info.</a:t>
            </a:r>
          </a:p>
          <a:p>
            <a:r>
              <a:t>- Apache Airflow: a robot that follows a recipe at scheduled times.</a:t>
            </a:r>
          </a:p>
          <a:p>
            <a:r>
              <a:t>- Docker: a "shipping container" that packages the whole system so it works the same on any computer or server.</a:t>
            </a:r>
          </a:p>
          <a:p>
            <a:r>
              <a:t>- Python / ML model: the brain that has learned from history.</a:t>
            </a:r>
          </a:p>
          <a:p>
            <a:r>
              <a:t>- Streamlit: the storefront — what business users actually click and see.</a:t>
            </a:r>
          </a:p>
          <a:p/>
          <a:p>
            <a:r>
              <a:t>These are all open, well-known industry tools — not something custom and risky.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six steps in plain English:</a:t>
            </a:r>
          </a:p>
          <a:p/>
          <a:p>
            <a:r>
              <a:t>1) Pull data: read raw member records from SQL Server.</a:t>
            </a:r>
          </a:p>
          <a:p>
            <a:r>
              <a:t>2) Snapshot: freeze the data at a point in time so the model sees a consistent picture.</a:t>
            </a:r>
          </a:p>
          <a:p>
            <a:r>
              <a:t>3) Combine and clean: merge tables, fill in missing values, prepare "features" the model understands.</a:t>
            </a:r>
          </a:p>
          <a:p>
            <a:r>
              <a:t>4) Load model: open the trained ML model file (model.pkl).</a:t>
            </a:r>
          </a:p>
          <a:p>
            <a:r>
              <a:t>5) Predict: each member gets a risk score between 0 (will stay) and 1 (high churn risk).</a:t>
            </a:r>
          </a:p>
          <a:p>
            <a:r>
              <a:t>6) Save: results are written to include/data/predictions.csv for the dashboard to read.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dashboard is the touch-point for non-technical users.</a:t>
            </a:r>
          </a:p>
          <a:p/>
          <a:p>
            <a:r>
              <a:t>Demo flow if you have access:</a:t>
            </a:r>
          </a:p>
          <a:p>
            <a:r>
              <a:t>- Open http://localhost:8501 in a browser.</a:t>
            </a:r>
          </a:p>
          <a:p>
            <a:r>
              <a:t>- The page shows uploaded data and predictions.</a:t>
            </a:r>
          </a:p>
          <a:p>
            <a:r>
              <a:t>- Users can upload their own CSV and see results instantly.</a:t>
            </a:r>
          </a:p>
          <a:p>
            <a:r>
              <a:t>- Predictions are colour-coded:</a:t>
            </a:r>
          </a:p>
          <a:p>
            <a:r>
              <a:t>  - Red = high risk</a:t>
            </a:r>
          </a:p>
          <a:p>
            <a:r>
              <a:t>  - Blue = medium risk</a:t>
            </a:r>
          </a:p>
          <a:p>
            <a:r>
              <a:t>  - Green = low risk</a:t>
            </a:r>
          </a:p>
          <a:p/>
          <a:p>
            <a:r>
              <a:t>The dashboard reads from the same predictions file the pipeline produces.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the system is hands-off and reliable.</a:t>
            </a:r>
          </a:p>
          <a:p/>
          <a:p>
            <a:r>
              <a:t>Behind the scenes:</a:t>
            </a:r>
          </a:p>
          <a:p>
            <a:r>
              <a:t>- Airflow uses a "DAG" (Directed Acyclic Graph) which is just a recipe of steps in order.</a:t>
            </a:r>
          </a:p>
          <a:p>
            <a:r>
              <a:t>- If a step fails, Airflow retries it automatically a few times before alerting.</a:t>
            </a:r>
          </a:p>
          <a:p>
            <a:r>
              <a:t>- Logs from every run are stored, so we can always look back and explain what happened.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Plain-English explanation of training:</a:t>
            </a:r>
          </a:p>
          <a:p/>
          <a:p>
            <a:r>
              <a:t>- Imagine looking at thousands of past members and asking: "what did the people who left have in common?"</a:t>
            </a:r>
          </a:p>
          <a:p>
            <a:r>
              <a:t>- The model finds those patterns automatically (e.g. visits dropped sharply, stopped attending favourite class, billing failures).</a:t>
            </a:r>
          </a:p>
          <a:p>
            <a:r>
              <a:t>- Random Forest = many simple decision trees voting together.</a:t>
            </a:r>
          </a:p>
          <a:p>
            <a:r>
              <a:t>- Gradient Boosting = trees that learn from each other's mistakes.</a:t>
            </a:r>
          </a:p>
          <a:p>
            <a:r>
              <a:t>- Both are well-understood, mainstream methods — not experimental.</a:t>
            </a:r>
          </a:p>
          <a:p>
            <a:r>
              <a:t>- We use GridSearchCV to automatically test combinations of settings and pick the best one.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each benefit to a concrete activity:</a:t>
            </a:r>
          </a:p>
          <a:p>
            <a:r>
              <a:t>- Higher retention -&gt; proactive call campaigns to top-100 at-risk members.</a:t>
            </a:r>
          </a:p>
          <a:p>
            <a:r>
              <a:t>- Lower marketing costs -&gt; stop blanket-emailing the entire base.</a:t>
            </a:r>
          </a:p>
          <a:p>
            <a:r>
              <a:t>- Better member experience -&gt; outreach that feels timely, not random.</a:t>
            </a:r>
          </a:p>
          <a:p>
            <a:r>
              <a:t>- Data-driven culture -&gt; weekly review of results and actions taken.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Reassurance points:</a:t>
            </a:r>
          </a:p>
          <a:p>
            <a:r>
              <a:t>- Passwords and keys are never committed to the source code repository.</a:t>
            </a:r>
          </a:p>
          <a:p>
            <a:r>
              <a:t>- We use environment variables (".env" files) on the host machine instead.</a:t>
            </a:r>
          </a:p>
          <a:p>
            <a:r>
              <a:t>- All actions are logged to disk, so any member-data access can be reviewed.</a:t>
            </a:r>
          </a:p>
          <a:p>
            <a:r>
              <a:t>- Docker isolation means the project cannot accidentally affect other systems.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that the day-to-day is simple:</a:t>
            </a:r>
          </a:p>
          <a:p>
            <a:r>
              <a:t>- Nobody has to "start" the pipeline each morning.</a:t>
            </a:r>
          </a:p>
          <a:p>
            <a:r>
              <a:t>- Business team only needs the dashboard URL and a browser.</a:t>
            </a:r>
          </a:p>
          <a:p>
            <a:r>
              <a:t>- Engineering team only steps in if Airflow flags an issue.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Future roadmap to share with stakeholders.</a:t>
            </a:r>
          </a:p>
          <a:p/>
          <a:p>
            <a:r>
              <a:t>Quick wins next quarter:</a:t>
            </a:r>
          </a:p>
          <a:p>
            <a:r>
              <a:t>- Schedule weekly automatic re-training.</a:t>
            </a:r>
          </a:p>
          <a:p>
            <a:r>
              <a:t>- Add an executive dashboard with churn KPIs.</a:t>
            </a:r>
          </a:p>
          <a:p/>
          <a:p>
            <a:r>
              <a:t>Longer-term:</a:t>
            </a:r>
          </a:p>
          <a:p>
            <a:r>
              <a:t>- Hook into CRM so high-risk members trigger automatic actions.</a:t>
            </a:r>
          </a:p>
          <a:p>
            <a:r>
              <a:t>- A/B test retention offers and feed results back into the model.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slide.</a:t>
            </a:r>
          </a:p>
          <a:p/>
          <a:p>
            <a:r>
              <a:t>Say something like:</a:t>
            </a:r>
          </a:p>
          <a:p>
            <a:r>
              <a:t>- "Now that we have seen WHAT the platform does, let's see HOW it is run and supported."</a:t>
            </a:r>
          </a:p>
          <a:p>
            <a:r>
              <a:t>- "Even if you don't run it yourself, knowing the basics helps you ask the right questions and understand what the engineering team is doing when something goes wrong."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expectations: only 4 high-level steps.</a:t>
            </a:r>
          </a:p>
          <a:p/>
          <a:p>
            <a:r>
              <a:t>Time to complete the first time: ~15-20 minutes (mostly Docker downloading images).</a:t>
            </a:r>
          </a:p>
          <a:p>
            <a:r>
              <a:t>Time to complete every subsequent run: less than 1 minute.</a:t>
            </a:r>
          </a:p>
          <a:p/>
          <a:p>
            <a:r>
              <a:t>The next four slides break each step down with the exact commands.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each prerequisite:</a:t>
            </a:r>
          </a:p>
          <a:p/>
          <a:p>
            <a:r>
              <a:t>1) Docker Desktop must be installed AND running (look for the whale icon in the system tray).</a:t>
            </a:r>
          </a:p>
          <a:p>
            <a:r>
              <a:t>2) Astronomer CLI install guide: https://docs.astronomer.io/astro/cli/install-cli</a:t>
            </a:r>
          </a:p>
          <a:p>
            <a:r>
              <a:t>3) Git is needed to download (clone) the project from the company repository.</a:t>
            </a:r>
          </a:p>
          <a:p>
            <a:r>
              <a:t>4) Python 3.10+ is needed for any local script runs outside Docker.</a:t>
            </a:r>
          </a:p>
          <a:p/>
          <a:p>
            <a:r>
              <a:t>Common pitfalls to mention:</a:t>
            </a:r>
          </a:p>
          <a:p>
            <a:r>
              <a:t>- "astro: command not found" -&gt; the CLI was not added to PATH; restart the terminal.</a:t>
            </a:r>
          </a:p>
          <a:p>
            <a:r>
              <a:t>- "Cannot connect to the Docker daemon" -&gt; Docker Desktop is not started yet.</a:t>
            </a:r>
          </a:p>
          <a:p>
            <a:r>
              <a:t>- On Windows, install via PowerShell as Administrator the first time.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Walking through what happens:</a:t>
            </a:r>
          </a:p>
          <a:p/>
          <a:p>
            <a:r>
              <a:t>- "astro dev start" downloads Docker images the first time (can take several minutes).</a:t>
            </a:r>
          </a:p>
          <a:p>
            <a:r>
              <a:t>- After it finishes you'll see a message confirming Airflow is up.</a:t>
            </a:r>
          </a:p>
          <a:p>
            <a:r>
              <a:t>- Open a browser at http://localhost:8080 and log in with admin / admin.</a:t>
            </a:r>
          </a:p>
          <a:p/>
          <a:p>
            <a:r>
              <a:t>Common issues:</a:t>
            </a:r>
          </a:p>
          <a:p>
            <a:r>
              <a:t>- "Port 8080 already in use" -&gt; stop the conflicting app, or run "astro dev start --webserver-port 8081".</a:t>
            </a:r>
          </a:p>
          <a:p>
            <a:r>
              <a:t>- "Image pull failed" -&gt; check internet connection or proxy settings.</a:t>
            </a:r>
          </a:p>
          <a:p>
            <a:r>
              <a:t>- "astro dev start" hangs -&gt; make sure Docker Desktop is running and has enough memory (at least 4 GB).</a:t>
            </a:r>
          </a:p>
          <a:p>
            <a:r>
              <a:t>- To stop everything cleanly: "astro dev stop".</a:t>
            </a:r>
          </a:p>
          <a:p>
            <a:r>
              <a:t>- To start fresh: "astro dev kill" then "astro dev start".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this live if possible.</a:t>
            </a:r>
          </a:p>
          <a:p/>
          <a:p>
            <a:r>
              <a:t>The DAG performs:</a:t>
            </a:r>
          </a:p>
          <a:p>
            <a:r>
              <a:t>1) Read data from SQL Server</a:t>
            </a:r>
          </a:p>
          <a:p>
            <a:r>
              <a:t>2) Generate snapshots</a:t>
            </a:r>
          </a:p>
          <a:p>
            <a:r>
              <a:t>3) Merge dataset</a:t>
            </a:r>
          </a:p>
          <a:p>
            <a:r>
              <a:t>4) Load trained ML model</a:t>
            </a:r>
          </a:p>
          <a:p>
            <a:r>
              <a:t>5) Run predictions</a:t>
            </a:r>
          </a:p>
          <a:p>
            <a:r>
              <a:t>6) Save results to include/data/predictions.csv</a:t>
            </a:r>
          </a:p>
          <a:p/>
          <a:p>
            <a:r>
              <a:t>If a task is red:</a:t>
            </a:r>
          </a:p>
          <a:p>
            <a:r>
              <a:t>- Click the failed task box.</a:t>
            </a:r>
          </a:p>
          <a:p>
            <a:r>
              <a:t>- Open the "Logs" tab — the bottom of the log usually has the error.</a:t>
            </a:r>
          </a:p>
          <a:p>
            <a:r>
              <a:t>- Common failures:</a:t>
            </a:r>
          </a:p>
          <a:p>
            <a:r>
              <a:t>  - SQL connection refused -&gt; check VPN / database credentials in .env.</a:t>
            </a:r>
          </a:p>
          <a:p>
            <a:r>
              <a:t>  - File not found: model.pkl -&gt; the model artifact is missing in include/artifacts/.</a:t>
            </a:r>
          </a:p>
          <a:p>
            <a:r>
              <a:t>  - PermissionError on output -&gt; ensure include/data/ is writable.</a:t>
            </a:r>
          </a:p>
          <a:p>
            <a:r>
              <a:t>- After fixing the cause, click "Clear" on the failed task to retry only that step (no need to re-run everything).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ways to start Streamlit:</a:t>
            </a:r>
          </a:p>
          <a:p/>
          <a:p>
            <a:r>
              <a:t>A) Inside the Astro container (recommended, matches production):</a:t>
            </a:r>
          </a:p>
          <a:p>
            <a:r>
              <a:t>   astro dev bash</a:t>
            </a:r>
          </a:p>
          <a:p>
            <a:r>
              <a:t>   streamlit run include/lesmills_project/streamlit.py --server.port 8501 --server.address 0.0.0.0</a:t>
            </a:r>
          </a:p>
          <a:p/>
          <a:p>
            <a:r>
              <a:t>B) On your local machine (faster for development):</a:t>
            </a:r>
          </a:p>
          <a:p>
            <a:r>
              <a:t>   pip install -r requirements.txt</a:t>
            </a:r>
          </a:p>
          <a:p>
            <a:r>
              <a:t>   streamlit run include/lesmills_project/streamlit.py</a:t>
            </a:r>
          </a:p>
          <a:p/>
          <a:p>
            <a:r>
              <a:t>Then visit http://localhost:8501 in any browser.</a:t>
            </a:r>
          </a:p>
          <a:p/>
          <a:p>
            <a:r>
              <a:t>Common issues:</a:t>
            </a:r>
          </a:p>
          <a:p>
            <a:r>
              <a:t>- "Address already in use" on port 8501 -&gt; change the port, e.g. --server.port 8502.</a:t>
            </a:r>
          </a:p>
          <a:p>
            <a:r>
              <a:t>- Page loads but is blank -&gt; check the terminal where Streamlit was started for Python errors.</a:t>
            </a:r>
          </a:p>
          <a:p>
            <a:r>
              <a:t>- "model.pkl not found" -&gt; make sure the pipeline ran successfully and the file exists in include/artifacts/.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happy-path flowchart.</a:t>
            </a:r>
          </a:p>
          <a:p/>
          <a:p>
            <a:r>
              <a:t>Walk through each step:</a:t>
            </a:r>
          </a:p>
          <a:p>
            <a:r>
              <a:t>1) Install prerequisites (Docker, Astro CLI, Git, Python).</a:t>
            </a:r>
          </a:p>
          <a:p>
            <a:r>
              <a:t>2) Run "astro dev start" — Airflow launches inside Docker.</a:t>
            </a:r>
          </a:p>
          <a:p>
            <a:r>
              <a:t>3) Open the Airflow UI and trigger the DAG.</a:t>
            </a:r>
          </a:p>
          <a:p>
            <a:r>
              <a:t>4) Open Streamlit at http://localhost:8501.</a:t>
            </a:r>
          </a:p>
          <a:p>
            <a:r>
              <a:t>5) Dashboard is ready.</a:t>
            </a:r>
          </a:p>
          <a:p/>
          <a:p>
            <a:r>
              <a:t>Below each step is the verification check — a quick way to confirm that step succeeded before moving to the next.</a:t>
            </a:r>
          </a:p>
          <a:p/>
          <a:p>
            <a:r>
              <a:t>The orange decision diamond at the bottom captures the failure path:</a:t>
            </a:r>
          </a:p>
          <a:p>
            <a:r>
              <a:t>- If anything goes wrong, head to the debug guidance.</a:t>
            </a:r>
          </a:p>
          <a:p>
            <a:r>
              <a:t>- The most common fix is to restart the environment with "astro dev kill" then "astro dev start".</a:t>
            </a:r>
          </a:p>
          <a:p>
            <a:r>
              <a:t>- Detailed troubleshooting is on slides 24 and 25.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actual Prediction DAG that runs in Airflow (file: dags/prediction.py).</a:t>
            </a:r>
          </a:p>
          <a:p/>
          <a:p>
            <a:r>
              <a:t>Walk through the 7 tasks left to right:</a:t>
            </a:r>
          </a:p>
          <a:p>
            <a:r>
              <a:t>1) read_data — pulls raw member data from SQL Server.</a:t>
            </a:r>
          </a:p>
          <a:p>
            <a:r>
              <a:t>2) snapshots — freezes a snapshot of members at a point in time so the model sees a consistent picture.</a:t>
            </a:r>
          </a:p>
          <a:p>
            <a:r>
              <a:t>3) ingest — cleans, merges and produces feature parquet files.</a:t>
            </a:r>
          </a:p>
          <a:p>
            <a:r>
              <a:t>4) predict — loads model.pkl and produces a prediction (probability of churn) for each member.</a:t>
            </a:r>
          </a:p>
          <a:p>
            <a:r>
              <a:t>5) final_merge — joins the SQL data with the predictions and adds the run date.</a:t>
            </a:r>
          </a:p>
          <a:p>
            <a:r>
              <a:t>6) upsert_to_sql — writes results into the SQL Server table repo.MembershipRetentionPredictions (deletes existing rows for that RunDate first, then inserts).</a:t>
            </a:r>
          </a:p>
          <a:p>
            <a:r>
              <a:t>7) streamlit_app — launches the dashboard process so business users can browse.</a:t>
            </a:r>
          </a:p>
          <a:p/>
          <a:p>
            <a:r>
              <a:t>In the Airflow UI:</a:t>
            </a:r>
          </a:p>
          <a:p>
            <a:r>
              <a:t>- Each box becomes a task node.</a:t>
            </a:r>
          </a:p>
          <a:p>
            <a:r>
              <a:t>- Arrows show dependencies — a task only runs after the previous one succeeds.</a:t>
            </a:r>
          </a:p>
          <a:p>
            <a:r>
              <a:t>- Click any task to see its logs.</a:t>
            </a:r>
          </a:p>
          <a:p/>
          <a:p>
            <a:r>
              <a:t>The colour legend at the bottom-left helps stakeholders quickly recognise what each task category does.</a:t>
            </a:r>
          </a:p>
          <a:p/>
          <a:p>
            <a:r>
              <a:t>Schedule:</a:t>
            </a:r>
          </a:p>
          <a:p>
            <a:r>
              <a:t>- @daily means it runs automatically once per day.</a:t>
            </a:r>
          </a:p>
          <a:p>
            <a:r>
              <a:t>- Can also be triggered manually from the Airflow UI.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Training DAG (file: dags/train.py).</a:t>
            </a:r>
          </a:p>
          <a:p/>
          <a:p>
            <a:r>
              <a:t>Walk through the 4 tasks:</a:t>
            </a:r>
          </a:p>
          <a:p>
            <a:r>
              <a:t>1) read_data — pulls historical, labelled member data (we know who churned).</a:t>
            </a:r>
          </a:p>
          <a:p>
            <a:r>
              <a:t>2) snapshots — freezes the training snapshot.</a:t>
            </a:r>
          </a:p>
          <a:p>
            <a:r>
              <a:t>3) ingest — feature engineering: cleans data, merges tables, produces parquet files.</a:t>
            </a:r>
          </a:p>
          <a:p>
            <a:r>
              <a:t>4) train — fits Random Forest and Gradient Boosting models with GridSearchCV, picks the best, evaluates accuracy on a held-out test set.</a:t>
            </a:r>
          </a:p>
          <a:p/>
          <a:p>
            <a:r>
              <a:t>Outputs (saved to include/artifacts/):</a:t>
            </a:r>
          </a:p>
          <a:p>
            <a:r>
              <a:t>- model_&lt;timestamp&gt;.pkl  — the trained model. The Prediction DAG loads this.</a:t>
            </a:r>
          </a:p>
          <a:p>
            <a:r>
              <a:t>- metrics_&lt;timestamp&gt;.json  — accuracy, row count, timestamp.</a:t>
            </a:r>
          </a:p>
          <a:p>
            <a:r>
              <a:t>- log_&lt;timestamp&gt;.txt  — human-readable summary of the run.</a:t>
            </a:r>
          </a:p>
          <a:p/>
          <a:p>
            <a:r>
              <a:t>Why have a separate training DAG?</a:t>
            </a:r>
          </a:p>
          <a:p>
            <a:r>
              <a:t>- Training is heavy and only needs to run when we want to refresh the model.</a:t>
            </a:r>
          </a:p>
          <a:p>
            <a:r>
              <a:t>- Prediction is cheap and runs daily.</a:t>
            </a:r>
          </a:p>
          <a:p>
            <a:r>
              <a:t>- Separating them keeps daily runs fast and reliable.</a:t>
            </a:r>
          </a:p>
          <a:p/>
          <a:p>
            <a:r>
              <a:t>When to re-train:</a:t>
            </a:r>
          </a:p>
          <a:p>
            <a:r>
              <a:t>- Model accuracy drops over time (concept drift).</a:t>
            </a:r>
          </a:p>
          <a:p>
            <a:r>
              <a:t>- New data sources are added.</a:t>
            </a:r>
          </a:p>
          <a:p>
            <a:r>
              <a:t>- Member behaviour changes significantly (e.g. after a price change).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reference page to keep handy.</a:t>
            </a:r>
          </a:p>
          <a:p/>
          <a:p>
            <a:r>
              <a:t>When stakeholders ask "is there documentation?" — point them here and to the README in the repo.</a:t>
            </a:r>
          </a:p>
          <a:p/>
          <a:p>
            <a:r>
              <a:t>Tip:</a:t>
            </a:r>
          </a:p>
          <a:p>
            <a:r>
              <a:t>- Most issues can be diagnosed by running "astro dev logs" and reading the most recent error.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table — these cover ~90% of the issues a new team member will hit.</a:t>
            </a:r>
          </a:p>
          <a:p/>
          <a:p>
            <a:r>
              <a:t>General debugging mindset to share with stakeholders:</a:t>
            </a:r>
          </a:p>
          <a:p>
            <a:r>
              <a:t>1) Read the last few lines of the error — they almost always tell you what's wrong.</a:t>
            </a:r>
          </a:p>
          <a:p>
            <a:r>
              <a:t>2) Try the simplest fix first: stop and restart the affected piece.</a:t>
            </a:r>
          </a:p>
          <a:p>
            <a:r>
              <a:t>3) If it still fails, escalate to engineering with:</a:t>
            </a:r>
          </a:p>
          <a:p>
            <a:r>
              <a:t>   - The exact command you ran</a:t>
            </a:r>
          </a:p>
          <a:p>
            <a:r>
              <a:t>   - The full error message (copy-paste)</a:t>
            </a:r>
          </a:p>
          <a:p>
            <a:r>
              <a:t>   - A screenshot of the Airflow UI if relevant.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non-technical stakeholders:</a:t>
            </a:r>
          </a:p>
          <a:p>
            <a:r>
              <a:t>- You don't need to read the logs yourself — just know they exist.</a:t>
            </a:r>
          </a:p>
          <a:p>
            <a:r>
              <a:t>- When raising a ticket with the engineering team, ask them to attach:</a:t>
            </a:r>
          </a:p>
          <a:p>
            <a:r>
              <a:t>  1) The relevant Airflow task log.</a:t>
            </a:r>
          </a:p>
          <a:p>
            <a:r>
              <a:t>  2) The .csv output (if any).</a:t>
            </a:r>
          </a:p>
          <a:p>
            <a:r>
              <a:t>  3) The time the issue happened.</a:t>
            </a:r>
          </a:p>
          <a:p>
            <a:r>
              <a:t>- This dramatically reduces the time-to-fix.</a:t>
            </a:r>
          </a:p>
          <a:p/>
          <a:p>
            <a:r>
              <a:t>For engineers:</a:t>
            </a:r>
          </a:p>
          <a:p>
            <a:r>
              <a:t>- Always check Airflow logs first.</a:t>
            </a:r>
          </a:p>
          <a:p>
            <a:r>
              <a:t>- Then check container logs ("astro dev logs").</a:t>
            </a:r>
          </a:p>
          <a:p>
            <a:r>
              <a:t>- Then check the Python files in src/les/ to reproduce locally.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Wrap-up:</a:t>
            </a:r>
          </a:p>
          <a:p/>
          <a:p>
            <a:r>
              <a:t>- Recap the two halves: business value (slides 2-13) and operations (slides 15-25).</a:t>
            </a:r>
          </a:p>
          <a:p>
            <a:r>
              <a:t>- Invite questions.</a:t>
            </a:r>
          </a:p>
          <a:p>
            <a:r>
              <a:t>- Offer a follow-up demo of the live dashboard for anyone interested.</a:t>
            </a:r>
          </a:p>
          <a:p>
            <a:r>
              <a:t>- Share the README and this deck for self-study.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548640" cy="27432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E4002B"/>
                </a:solidFill>
                <a:latin typeface="Calibri"/>
              </a:rPr>
              <a:t>Les Mills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0584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Retention Prediction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0">
                <a:solidFill>
                  <a:srgbClr val="F5F5F5"/>
                </a:solidFill>
                <a:latin typeface="Calibri"/>
              </a:rPr>
              <a:t>Predicting customer churn with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  <a:latin typeface="Calibri"/>
              </a:rPr>
              <a:t>An overview for non-technical audiences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Prepared by Keyvan Salehi  •  Les Mills New Zealand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What is this project?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97280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Calibri"/>
              </a:rPr>
              <a:t>A simple way to know which members are likely to leave — before they 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E4002B"/>
                </a:solidFill>
              </a:rPr>
              <a:t>● </a:t>
            </a:r>
            <a:r>
              <a:rPr sz="2000">
                <a:solidFill>
                  <a:srgbClr val="2B2B2B"/>
                </a:solidFill>
                <a:latin typeface="Calibri"/>
              </a:rPr>
              <a:t>An end-to-end system that predicts the risk of a customer cancelling their membership.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E4002B"/>
                </a:solidFill>
              </a:rPr>
              <a:t>● </a:t>
            </a:r>
            <a:r>
              <a:rPr sz="2000">
                <a:solidFill>
                  <a:srgbClr val="2B2B2B"/>
                </a:solidFill>
                <a:latin typeface="Calibri"/>
              </a:rPr>
              <a:t>Combines our member data, an automated pipeline, and a Machine Learning model.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E4002B"/>
                </a:solidFill>
              </a:rPr>
              <a:t>● </a:t>
            </a:r>
            <a:r>
              <a:rPr sz="2000">
                <a:solidFill>
                  <a:srgbClr val="2B2B2B"/>
                </a:solidFill>
                <a:latin typeface="Calibri"/>
              </a:rPr>
              <a:t>Provides results through an easy-to-use dashboard — no coding required.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E4002B"/>
                </a:solidFill>
              </a:rPr>
              <a:t>● </a:t>
            </a:r>
            <a:r>
              <a:rPr sz="2000">
                <a:solidFill>
                  <a:srgbClr val="2B2B2B"/>
                </a:solidFill>
                <a:latin typeface="Calibri"/>
              </a:rPr>
              <a:t>Helps the business take action early to retain members and reduce churn.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Les Mills • Retention Prediction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Why it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97280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Calibri"/>
              </a:rPr>
              <a:t>Retention is cheaper than acquisition.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2697480" cy="2377440"/>
          </a:xfrm>
          <a:prstGeom prst="round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2331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E4002B"/>
                </a:solidFill>
                <a:latin typeface="Calibri"/>
              </a:rPr>
              <a:t>Reduce Churn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233172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Calibri"/>
              </a:rPr>
              <a:t>Spot at-risk members early and act before they cancel.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828800"/>
            <a:ext cx="2697480" cy="2377440"/>
          </a:xfrm>
          <a:prstGeom prst="round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057400"/>
            <a:ext cx="2331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E4002B"/>
                </a:solidFill>
                <a:latin typeface="Calibri"/>
              </a:rPr>
              <a:t>Save Costs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651760"/>
            <a:ext cx="233172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Calibri"/>
              </a:rPr>
              <a:t>Keeping a member is far cheaper than acquiring a new 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828800"/>
            <a:ext cx="2697480" cy="2377440"/>
          </a:xfrm>
          <a:prstGeom prst="round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057400"/>
            <a:ext cx="2331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E4002B"/>
                </a:solidFill>
                <a:latin typeface="Calibri"/>
              </a:rPr>
              <a:t>Smarter Decisions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51760"/>
            <a:ext cx="233172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Calibri"/>
              </a:rPr>
              <a:t>Marketing and operations use data, not guesswork.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828800"/>
            <a:ext cx="2697480" cy="2377440"/>
          </a:xfrm>
          <a:prstGeom prst="round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2057400"/>
            <a:ext cx="2331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E4002B"/>
                </a:solidFill>
                <a:latin typeface="Calibri"/>
              </a:rPr>
              <a:t>Personalised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651760"/>
            <a:ext cx="233172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Calibri"/>
              </a:rPr>
              <a:t>Target the right members with the right offer.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Les Mills • Retention Prediction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How it works —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97280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Calibri"/>
              </a:rPr>
              <a:t>Data flows automatically from our systems to insights.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77440"/>
            <a:ext cx="2011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40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E4002B"/>
                </a:solidFill>
                <a:latin typeface="Calibri"/>
              </a:rP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1828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2B2B2B"/>
                </a:solidFill>
                <a:latin typeface="Calibri"/>
              </a:rPr>
              <a:t>Member info from</a:t>
            </a:r>
          </a:p>
          <a:p>
            <a:pPr algn="ctr"/>
            <a:r>
              <a:rPr sz="1200" b="0">
                <a:solidFill>
                  <a:srgbClr val="2B2B2B"/>
                </a:solidFill>
                <a:latin typeface="Calibri"/>
              </a:rPr>
              <a:t>our database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78608" y="3154680"/>
            <a:ext cx="201168" cy="274320"/>
          </a:xfrm>
          <a:prstGeom prst="rightArrow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88920" y="2377440"/>
            <a:ext cx="2011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40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2606040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E4002B"/>
                </a:solidFill>
                <a:latin typeface="Calibri"/>
              </a:rPr>
              <a:t>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3200400"/>
            <a:ext cx="1828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2B2B2B"/>
                </a:solidFill>
                <a:latin typeface="Calibri"/>
              </a:rPr>
              <a:t>Automated workflow</a:t>
            </a:r>
          </a:p>
          <a:p>
            <a:pPr algn="ctr"/>
            <a:r>
              <a:rPr sz="1200" b="0">
                <a:solidFill>
                  <a:srgbClr val="2B2B2B"/>
                </a:solidFill>
                <a:latin typeface="Calibri"/>
              </a:rPr>
              <a:t>prepares the data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18888" y="3154680"/>
            <a:ext cx="201168" cy="274320"/>
          </a:xfrm>
          <a:prstGeom prst="rightArrow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0" y="2377440"/>
            <a:ext cx="2011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40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2606040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E4002B"/>
                </a:solidFill>
                <a:latin typeface="Calibri"/>
              </a:rP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200400"/>
            <a:ext cx="1828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2B2B2B"/>
                </a:solidFill>
                <a:latin typeface="Calibri"/>
              </a:rPr>
              <a:t>Machine Learning</a:t>
            </a:r>
          </a:p>
          <a:p>
            <a:pPr algn="ctr"/>
            <a:r>
              <a:rPr sz="1200" b="0">
                <a:solidFill>
                  <a:srgbClr val="2B2B2B"/>
                </a:solidFill>
                <a:latin typeface="Calibri"/>
              </a:rPr>
              <a:t>predicts churn risk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059168" y="3154680"/>
            <a:ext cx="201168" cy="274320"/>
          </a:xfrm>
          <a:prstGeom prst="rightArrow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69480" y="2377440"/>
            <a:ext cx="2011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40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9480" y="2606040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E4002B"/>
                </a:solidFill>
                <a:latin typeface="Calibri"/>
              </a:rPr>
              <a:t>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3200400"/>
            <a:ext cx="1828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2B2B2B"/>
                </a:solidFill>
                <a:latin typeface="Calibri"/>
              </a:rPr>
              <a:t>Saved as a clean,</a:t>
            </a:r>
          </a:p>
          <a:p>
            <a:pPr algn="ctr"/>
            <a:r>
              <a:rPr sz="1200" b="0">
                <a:solidFill>
                  <a:srgbClr val="2B2B2B"/>
                </a:solidFill>
                <a:latin typeface="Calibri"/>
              </a:rPr>
              <a:t>ready-to-use dataset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299448" y="3154680"/>
            <a:ext cx="201168" cy="274320"/>
          </a:xfrm>
          <a:prstGeom prst="rightArrow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509760" y="2377440"/>
            <a:ext cx="2011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40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2606040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E4002B"/>
                </a:solidFill>
                <a:latin typeface="Calibri"/>
              </a:rPr>
              <a:t>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200400"/>
            <a:ext cx="1828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2B2B2B"/>
                </a:solidFill>
                <a:latin typeface="Calibri"/>
              </a:rPr>
              <a:t>Business users view</a:t>
            </a:r>
          </a:p>
          <a:p>
            <a:pPr algn="ctr"/>
            <a:r>
              <a:rPr sz="1200" b="0">
                <a:solidFill>
                  <a:srgbClr val="2B2B2B"/>
                </a:solidFill>
                <a:latin typeface="Calibri"/>
              </a:rPr>
              <a:t>and explore 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Les Mills • Retention Prediction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The building blocks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97280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Calibri"/>
              </a:rPr>
              <a:t>Standard, industry-proven tools — explained simply.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" cy="64008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31089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SQL 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6858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Calibri"/>
              </a:rPr>
              <a:t>Where our member data lives.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92640" y="1920240"/>
            <a:ext cx="2011680" cy="457200"/>
          </a:xfrm>
          <a:prstGeom prst="round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0" y="1984248"/>
            <a:ext cx="2011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Source of truth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606040"/>
            <a:ext cx="109728" cy="64008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560320"/>
            <a:ext cx="31089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Apache Airflow (Astro)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926080"/>
            <a:ext cx="6858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Calibri"/>
              </a:rPr>
              <a:t>An automation tool that runs the pipeline on a schedule.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0" y="2697480"/>
            <a:ext cx="2011680" cy="457200"/>
          </a:xfrm>
          <a:prstGeom prst="round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2761488"/>
            <a:ext cx="2011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Automation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383280"/>
            <a:ext cx="109728" cy="64008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337560"/>
            <a:ext cx="31089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Docker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703320"/>
            <a:ext cx="6858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Calibri"/>
              </a:rPr>
              <a:t>Lets the project run reliably on any computer or server.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3474720"/>
            <a:ext cx="2011680" cy="457200"/>
          </a:xfrm>
          <a:prstGeom prst="round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3538728"/>
            <a:ext cx="2011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Portability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160520"/>
            <a:ext cx="109728" cy="64008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114800"/>
            <a:ext cx="31089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Python &amp; ML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480560"/>
            <a:ext cx="6858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Calibri"/>
              </a:rPr>
              <a:t>The brain — learns patterns and predicts churn.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4251960"/>
            <a:ext cx="2011680" cy="457200"/>
          </a:xfrm>
          <a:prstGeom prst="round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0" y="4315968"/>
            <a:ext cx="2011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Intelligence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937760"/>
            <a:ext cx="109728" cy="64008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892040"/>
            <a:ext cx="31089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Streamlit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257800"/>
            <a:ext cx="6858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Calibri"/>
              </a:rPr>
              <a:t>A friendly web dashboard for the team.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92640" y="5029200"/>
            <a:ext cx="2011680" cy="457200"/>
          </a:xfrm>
          <a:prstGeom prst="round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0" y="5093208"/>
            <a:ext cx="2011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User interface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Les Mills • Retention Prediction Platform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The data journey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97280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Calibri"/>
              </a:rPr>
              <a:t>From raw records to actionable predictions.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828800"/>
            <a:ext cx="502920" cy="502920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5029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74520"/>
            <a:ext cx="9144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2B2B2B"/>
                </a:solidFill>
                <a:latin typeface="Calibri"/>
              </a:rPr>
              <a:t>Pull data from SQL Server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468880"/>
            <a:ext cx="502920" cy="502920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42032"/>
            <a:ext cx="5029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514600"/>
            <a:ext cx="9144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2B2B2B"/>
                </a:solidFill>
                <a:latin typeface="Calibri"/>
              </a:rPr>
              <a:t>Take a snapshot of members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108960"/>
            <a:ext cx="502920" cy="502920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5029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154680"/>
            <a:ext cx="9144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2B2B2B"/>
                </a:solidFill>
                <a:latin typeface="Calibri"/>
              </a:rPr>
              <a:t>Combine and clean features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3749040"/>
            <a:ext cx="502920" cy="502920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2"/>
            <a:ext cx="5029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794760"/>
            <a:ext cx="9144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2B2B2B"/>
                </a:solidFill>
                <a:latin typeface="Calibri"/>
              </a:rPr>
              <a:t>Load the trained ML model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4389120"/>
            <a:ext cx="502920" cy="502920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462272"/>
            <a:ext cx="5029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434840"/>
            <a:ext cx="9144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2B2B2B"/>
                </a:solidFill>
                <a:latin typeface="Calibri"/>
              </a:rPr>
              <a:t>Predict churn probability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5029200"/>
            <a:ext cx="502920" cy="502920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102352"/>
            <a:ext cx="5029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074920"/>
            <a:ext cx="9144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2B2B2B"/>
                </a:solidFill>
                <a:latin typeface="Calibri"/>
              </a:rPr>
              <a:t>Save results for the team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Les Mills • Retention Prediction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The Streamlit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97280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Calibri"/>
              </a:rPr>
              <a:t>A friendly window into the predictions.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E4002B"/>
                </a:solidFill>
              </a:rPr>
              <a:t>● </a:t>
            </a:r>
            <a:r>
              <a:rPr sz="2000">
                <a:solidFill>
                  <a:srgbClr val="2B2B2B"/>
                </a:solidFill>
                <a:latin typeface="Calibri"/>
              </a:rPr>
              <a:t>Upload a CSV file of members.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E4002B"/>
                </a:solidFill>
              </a:rPr>
              <a:t>● </a:t>
            </a:r>
            <a:r>
              <a:rPr sz="2000">
                <a:solidFill>
                  <a:srgbClr val="2B2B2B"/>
                </a:solidFill>
                <a:latin typeface="Calibri"/>
              </a:rPr>
              <a:t>Run predictions with one click.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E4002B"/>
                </a:solidFill>
              </a:rPr>
              <a:t>● </a:t>
            </a:r>
            <a:r>
              <a:rPr sz="2000">
                <a:solidFill>
                  <a:srgbClr val="2B2B2B"/>
                </a:solidFill>
                <a:latin typeface="Calibri"/>
              </a:rPr>
              <a:t>See who is most at risk of leaving.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E4002B"/>
                </a:solidFill>
              </a:rPr>
              <a:t>● </a:t>
            </a:r>
            <a:r>
              <a:rPr sz="2000">
                <a:solidFill>
                  <a:srgbClr val="2B2B2B"/>
                </a:solidFill>
                <a:latin typeface="Calibri"/>
              </a:rPr>
              <a:t>Download the results for the team.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E4002B"/>
                </a:solidFill>
              </a:rPr>
              <a:t>● </a:t>
            </a:r>
            <a:r>
              <a:rPr sz="2000">
                <a:solidFill>
                  <a:srgbClr val="2B2B2B"/>
                </a:solidFill>
                <a:latin typeface="Calibri"/>
              </a:rPr>
              <a:t>No coding or technical knowledge needed.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828800"/>
            <a:ext cx="3840480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0" y="1828800"/>
            <a:ext cx="3840480" cy="54864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920240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Retention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560320"/>
            <a:ext cx="34747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Members at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301752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Calibri"/>
              </a:rPr>
              <a:t>Member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3017520"/>
            <a:ext cx="1280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300" b="1">
                <a:solidFill>
                  <a:srgbClr val="E4002B"/>
                </a:solidFill>
                <a:latin typeface="Calibri"/>
              </a:rPr>
              <a:t>92%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52044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Calibri"/>
              </a:rPr>
              <a:t>Member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520440"/>
            <a:ext cx="1280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300" b="1">
                <a:solidFill>
                  <a:srgbClr val="E4002B"/>
                </a:solidFill>
                <a:latin typeface="Calibri"/>
              </a:rPr>
              <a:t>81%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402336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Calibri"/>
              </a:rPr>
              <a:t>Member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4023360"/>
            <a:ext cx="1280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300" b="1">
                <a:solidFill>
                  <a:srgbClr val="006EB8"/>
                </a:solidFill>
                <a:latin typeface="Calibri"/>
              </a:rPr>
              <a:t>47%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452628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Calibri"/>
              </a:rPr>
              <a:t>Member 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4526280"/>
            <a:ext cx="1280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300" b="1">
                <a:solidFill>
                  <a:srgbClr val="2E8B57"/>
                </a:solidFill>
                <a:latin typeface="Calibri"/>
              </a:rPr>
              <a:t>12%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Les Mills • Retention Prediction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Automation behind the scenes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97280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Calibri"/>
              </a:rPr>
              <a:t>The pipeline runs itself — reliably and on schedule.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E4002B"/>
                </a:solidFill>
              </a:rPr>
              <a:t>● </a:t>
            </a:r>
            <a:r>
              <a:rPr sz="2000">
                <a:solidFill>
                  <a:srgbClr val="2B2B2B"/>
                </a:solidFill>
                <a:latin typeface="Calibri"/>
              </a:rPr>
              <a:t>Airflow runs the workflow automatically — no manual steps.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E4002B"/>
                </a:solidFill>
              </a:rPr>
              <a:t>● </a:t>
            </a:r>
            <a:r>
              <a:rPr sz="2000">
                <a:solidFill>
                  <a:srgbClr val="2B2B2B"/>
                </a:solidFill>
                <a:latin typeface="Calibri"/>
              </a:rPr>
              <a:t>Each step is monitored — if something fails, the team is alerted.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E4002B"/>
                </a:solidFill>
              </a:rPr>
              <a:t>● </a:t>
            </a:r>
            <a:r>
              <a:rPr sz="2000">
                <a:solidFill>
                  <a:srgbClr val="2B2B2B"/>
                </a:solidFill>
                <a:latin typeface="Calibri"/>
              </a:rPr>
              <a:t>Docker ensures the system behaves the same everywhere.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E4002B"/>
                </a:solidFill>
              </a:rPr>
              <a:t>● </a:t>
            </a:r>
            <a:r>
              <a:rPr sz="2000">
                <a:solidFill>
                  <a:srgbClr val="2B2B2B"/>
                </a:solidFill>
                <a:latin typeface="Calibri"/>
              </a:rPr>
              <a:t>New data is processed without anyone needing to be present.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E4002B"/>
                </a:solidFill>
              </a:rPr>
              <a:t>● </a:t>
            </a:r>
            <a:r>
              <a:rPr sz="2000">
                <a:solidFill>
                  <a:srgbClr val="2B2B2B"/>
                </a:solidFill>
                <a:latin typeface="Calibri"/>
              </a:rPr>
              <a:t>Predictions are always fresh and ready for the business.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Les Mills • Retention Prediction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How the model learns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97280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Calibri"/>
              </a:rPr>
              <a:t>Trained on historical patterns — improved over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E4002B"/>
                </a:solidFill>
              </a:rPr>
              <a:t>● </a:t>
            </a:r>
            <a:r>
              <a:rPr sz="2000">
                <a:solidFill>
                  <a:srgbClr val="2B2B2B"/>
                </a:solidFill>
                <a:latin typeface="Calibri"/>
              </a:rPr>
              <a:t>We feed the model years of past member behaviour.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E4002B"/>
                </a:solidFill>
              </a:rPr>
              <a:t>● </a:t>
            </a:r>
            <a:r>
              <a:rPr sz="2000">
                <a:solidFill>
                  <a:srgbClr val="2B2B2B"/>
                </a:solidFill>
                <a:latin typeface="Calibri"/>
              </a:rPr>
              <a:t>It learns which patterns are linked to people who left.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E4002B"/>
                </a:solidFill>
              </a:rPr>
              <a:t>● </a:t>
            </a:r>
            <a:r>
              <a:rPr sz="2000">
                <a:solidFill>
                  <a:srgbClr val="2B2B2B"/>
                </a:solidFill>
                <a:latin typeface="Calibri"/>
              </a:rPr>
              <a:t>Algorithms used: Random Forest and Gradient Boosting (proven, reliable techniques).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E4002B"/>
                </a:solidFill>
              </a:rPr>
              <a:t>● </a:t>
            </a:r>
            <a:r>
              <a:rPr sz="2000">
                <a:solidFill>
                  <a:srgbClr val="2B2B2B"/>
                </a:solidFill>
                <a:latin typeface="Calibri"/>
              </a:rPr>
              <a:t>The trained model is saved and re-used for new predictions.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E4002B"/>
                </a:solidFill>
              </a:rPr>
              <a:t>● </a:t>
            </a:r>
            <a:r>
              <a:rPr sz="2000">
                <a:solidFill>
                  <a:srgbClr val="2B2B2B"/>
                </a:solidFill>
                <a:latin typeface="Calibri"/>
              </a:rPr>
              <a:t>Can be re-trained periodically to stay accurate as behaviour changes.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Les Mills • Retention Prediction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Business benefits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97280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Calibri"/>
              </a:rPr>
              <a:t>What this means for Les Mills.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440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137160" cy="201168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48920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Higher retention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489204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Members stay longer when we engage them at the right moment.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828800"/>
            <a:ext cx="5440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828800"/>
            <a:ext cx="137160" cy="201168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103120"/>
            <a:ext cx="48920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Lower marketing costs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697480"/>
            <a:ext cx="489204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Targeted offers instead of broad campaigns.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9080"/>
            <a:ext cx="5440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069080"/>
            <a:ext cx="137160" cy="201168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343400"/>
            <a:ext cx="48920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Better member experience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937760"/>
            <a:ext cx="489204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Personalised outreach feels more relevant.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069080"/>
            <a:ext cx="5440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4069080"/>
            <a:ext cx="137160" cy="201168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343400"/>
            <a:ext cx="48920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Data-driven culture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937760"/>
            <a:ext cx="489204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Decisions backed by evidence, not guesses.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Les Mills • Retention Prediction 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Security and trust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97280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Calibri"/>
              </a:rPr>
              <a:t>Built with safe, modern practices.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E4002B"/>
                </a:solidFill>
              </a:rPr>
              <a:t>● </a:t>
            </a:r>
            <a:r>
              <a:rPr sz="2000">
                <a:solidFill>
                  <a:srgbClr val="2B2B2B"/>
                </a:solidFill>
                <a:latin typeface="Calibri"/>
              </a:rPr>
              <a:t>Sensitive credentials are kept out of the code — managed via secure environment variables.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E4002B"/>
                </a:solidFill>
              </a:rPr>
              <a:t>● </a:t>
            </a:r>
            <a:r>
              <a:rPr sz="2000">
                <a:solidFill>
                  <a:srgbClr val="2B2B2B"/>
                </a:solidFill>
                <a:latin typeface="Calibri"/>
              </a:rPr>
              <a:t>Member data stays inside trusted systems (SQL Server, internal infrastructure).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E4002B"/>
                </a:solidFill>
              </a:rPr>
              <a:t>● </a:t>
            </a:r>
            <a:r>
              <a:rPr sz="2000">
                <a:solidFill>
                  <a:srgbClr val="2B2B2B"/>
                </a:solidFill>
                <a:latin typeface="Calibri"/>
              </a:rPr>
              <a:t>The pipeline runs in isolated containers — predictable and auditable.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E4002B"/>
                </a:solidFill>
              </a:rPr>
              <a:t>● </a:t>
            </a:r>
            <a:r>
              <a:rPr sz="2000">
                <a:solidFill>
                  <a:srgbClr val="2B2B2B"/>
                </a:solidFill>
                <a:latin typeface="Calibri"/>
              </a:rPr>
              <a:t>All steps are logged for transparency and troubleshooting.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Les Mills • Retention Prediction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A typical day with the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97280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Calibri"/>
              </a:rPr>
              <a:t>Simple, repeatable, business-friendly.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828800"/>
            <a:ext cx="548640" cy="548640"/>
          </a:xfrm>
          <a:prstGeom prst="ellipse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548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901952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2B2B2B"/>
                </a:solidFill>
                <a:latin typeface="Calibri"/>
              </a:rPr>
              <a:t>The pipeline runs automatically or manually By RunDate.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514600"/>
            <a:ext cx="548640" cy="548640"/>
          </a:xfrm>
          <a:prstGeom prst="ellipse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06040"/>
            <a:ext cx="548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587752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2B2B2B"/>
                </a:solidFill>
                <a:latin typeface="Calibri"/>
              </a:rPr>
              <a:t>Fresh predictions are saved and ready by RunDate.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200400"/>
            <a:ext cx="548640" cy="548640"/>
          </a:xfrm>
          <a:prstGeom prst="ellipse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291840"/>
            <a:ext cx="548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273552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2B2B2B"/>
                </a:solidFill>
                <a:latin typeface="Calibri"/>
              </a:rPr>
              <a:t>The business team opens the Streamlit dashboard.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3886200"/>
            <a:ext cx="548640" cy="548640"/>
          </a:xfrm>
          <a:prstGeom prst="ellipse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977640"/>
            <a:ext cx="548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959352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2B2B2B"/>
                </a:solidFill>
                <a:latin typeface="Calibri"/>
              </a:rPr>
              <a:t>They review the members at highest risk.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4572000"/>
            <a:ext cx="548640" cy="548640"/>
          </a:xfrm>
          <a:prstGeom prst="ellipse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663440"/>
            <a:ext cx="548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645152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2B2B2B"/>
                </a:solidFill>
                <a:latin typeface="Calibri"/>
              </a:rPr>
              <a:t>Marketing or operations launches a retention action.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Les Mills • Retention Prediction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What's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97280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Calibri"/>
              </a:rPr>
              <a:t>Where we can take this platform.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E4002B"/>
                </a:solidFill>
              </a:rPr>
              <a:t>● </a:t>
            </a:r>
            <a:r>
              <a:rPr sz="2000">
                <a:solidFill>
                  <a:srgbClr val="2B2B2B"/>
                </a:solidFill>
                <a:latin typeface="Calibri"/>
              </a:rPr>
              <a:t>Model versioning — track and compare model improvements over time.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E4002B"/>
                </a:solidFill>
              </a:rPr>
              <a:t>● </a:t>
            </a:r>
            <a:r>
              <a:rPr sz="2000">
                <a:solidFill>
                  <a:srgbClr val="2B2B2B"/>
                </a:solidFill>
                <a:latin typeface="Calibri"/>
              </a:rPr>
              <a:t>Prediction monitoring — make sure results stay accurate.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E4002B"/>
                </a:solidFill>
              </a:rPr>
              <a:t>● </a:t>
            </a:r>
            <a:r>
              <a:rPr sz="2000">
                <a:solidFill>
                  <a:srgbClr val="2B2B2B"/>
                </a:solidFill>
                <a:latin typeface="Calibri"/>
              </a:rPr>
              <a:t>Automated re-training — model updates itself as new data arrives.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E4002B"/>
                </a:solidFill>
              </a:rPr>
              <a:t>● </a:t>
            </a:r>
            <a:r>
              <a:rPr sz="2000">
                <a:solidFill>
                  <a:srgbClr val="2B2B2B"/>
                </a:solidFill>
                <a:latin typeface="Calibri"/>
              </a:rPr>
              <a:t>Drift detection — alerts when member behaviour shifts.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E4002B"/>
                </a:solidFill>
              </a:rPr>
              <a:t>● </a:t>
            </a:r>
            <a:r>
              <a:rPr sz="2000">
                <a:solidFill>
                  <a:srgbClr val="2B2B2B"/>
                </a:solidFill>
                <a:latin typeface="Calibri"/>
              </a:rPr>
              <a:t>Richer dashboards — deeper analytics for the business team.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Les Mills • Retention Prediction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548640" cy="237744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E4002B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How to run &amp; debug the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F5F5F5"/>
                </a:solidFill>
                <a:latin typeface="Calibri"/>
              </a:rPr>
              <a:t>A step-by-step walk-through for stakeholders and new team members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Les Mills • Retention Prediction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14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Running the project —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97280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Calibri"/>
              </a:rPr>
              <a:t>Four simple steps from zero to running.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26974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40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5900" y="2286000"/>
            <a:ext cx="822960" cy="822960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85900" y="2423160"/>
            <a:ext cx="82296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23317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Calibri"/>
              </a:rPr>
              <a:t>Install prerequisites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23317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0">
                <a:solidFill>
                  <a:srgbClr val="2B2B2B"/>
                </a:solidFill>
                <a:latin typeface="Calibri"/>
              </a:rPr>
              <a:t>Docker, Astro CLI, Python, Git.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011680"/>
            <a:ext cx="26974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40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66260" y="2286000"/>
            <a:ext cx="822960" cy="822960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6260" y="2423160"/>
            <a:ext cx="82296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291840"/>
            <a:ext cx="23317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Calibri"/>
              </a:rPr>
              <a:t>Start Airflow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840480"/>
            <a:ext cx="23317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0">
                <a:solidFill>
                  <a:srgbClr val="2B2B2B"/>
                </a:solidFill>
                <a:latin typeface="Calibri"/>
              </a:rPr>
              <a:t>One command launches everything.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011680"/>
            <a:ext cx="26974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40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46620" y="2286000"/>
            <a:ext cx="822960" cy="822960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46620" y="2423160"/>
            <a:ext cx="82296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291840"/>
            <a:ext cx="23317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Calibri"/>
              </a:rPr>
              <a:t>Trigger the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840480"/>
            <a:ext cx="23317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0">
                <a:solidFill>
                  <a:srgbClr val="2B2B2B"/>
                </a:solidFill>
                <a:latin typeface="Calibri"/>
              </a:rPr>
              <a:t>Run the workflow from the Airflow UI.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20" y="2011680"/>
            <a:ext cx="26974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40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126980" y="2286000"/>
            <a:ext cx="822960" cy="822960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26980" y="2423160"/>
            <a:ext cx="82296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3291840"/>
            <a:ext cx="23317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Calibri"/>
              </a:rPr>
              <a:t>Open the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3840480"/>
            <a:ext cx="23317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0">
                <a:solidFill>
                  <a:srgbClr val="2B2B2B"/>
                </a:solidFill>
                <a:latin typeface="Calibri"/>
              </a:rPr>
              <a:t>View predictions in Streamlit.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Les Mills • Retention Prediction 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15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Step 1 — Install prerequisites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97280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Calibri"/>
              </a:rPr>
              <a:t>What needs to be on your computer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E4002B"/>
                </a:solidFill>
              </a:rPr>
              <a:t>● </a:t>
            </a:r>
            <a:r>
              <a:rPr sz="1800">
                <a:solidFill>
                  <a:srgbClr val="2B2B2B"/>
                </a:solidFill>
                <a:latin typeface="Calibri"/>
              </a:rPr>
              <a:t>Docker — runs the containers.</a:t>
            </a:r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E4002B"/>
                </a:solidFill>
              </a:rPr>
              <a:t>● </a:t>
            </a:r>
            <a:r>
              <a:rPr sz="1800">
                <a:solidFill>
                  <a:srgbClr val="2B2B2B"/>
                </a:solidFill>
                <a:latin typeface="Calibri"/>
              </a:rPr>
              <a:t>Astronomer CLI (astro) — manages Airflow.</a:t>
            </a:r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E4002B"/>
                </a:solidFill>
              </a:rPr>
              <a:t>● </a:t>
            </a:r>
            <a:r>
              <a:rPr sz="1800">
                <a:solidFill>
                  <a:srgbClr val="2B2B2B"/>
                </a:solidFill>
                <a:latin typeface="Calibri"/>
              </a:rPr>
              <a:t>Git — to download the project.</a:t>
            </a:r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E4002B"/>
                </a:solidFill>
              </a:rPr>
              <a:t>● </a:t>
            </a:r>
            <a:r>
              <a:rPr sz="1800">
                <a:solidFill>
                  <a:srgbClr val="2B2B2B"/>
                </a:solidFill>
                <a:latin typeface="Calibri"/>
              </a:rPr>
              <a:t>Python 3.10 or newer.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828800"/>
            <a:ext cx="48463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Verify the tools are installed: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286000"/>
            <a:ext cx="4846320" cy="2377440"/>
          </a:xfrm>
          <a:prstGeom prst="roundRect">
            <a:avLst/>
          </a:prstGeom>
          <a:solidFill>
            <a:srgbClr val="1E1E1E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2423160"/>
            <a:ext cx="4480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DCDCDC"/>
                </a:solidFill>
                <a:latin typeface="Consolas"/>
              </a:rPr>
              <a:t>$ docker --version</a:t>
            </a:r>
          </a:p>
          <a:p>
            <a:r>
              <a:rPr sz="1400">
                <a:solidFill>
                  <a:srgbClr val="DCDCDC"/>
                </a:solidFill>
                <a:latin typeface="Consolas"/>
              </a:rPr>
              <a:t>$ astro version</a:t>
            </a:r>
          </a:p>
          <a:p>
            <a:r>
              <a:rPr sz="1400">
                <a:solidFill>
                  <a:srgbClr val="DCDCDC"/>
                </a:solidFill>
                <a:latin typeface="Consolas"/>
              </a:rPr>
              <a:t>$ git --version</a:t>
            </a:r>
          </a:p>
          <a:p>
            <a:r>
              <a:rPr sz="1400">
                <a:solidFill>
                  <a:srgbClr val="DCDCDC"/>
                </a:solidFill>
                <a:latin typeface="Consolas"/>
              </a:rPr>
              <a:t>$ python --version</a:t>
            </a:r>
          </a:p>
          <a:p>
            <a:r>
              <a:rPr sz="1400">
                <a:solidFill>
                  <a:srgbClr val="DCDCDC"/>
                </a:solidFill>
                <a:latin typeface="Consolas"/>
              </a:rPr>
              <a:t/>
            </a:r>
          </a:p>
          <a:p>
            <a:r>
              <a:rPr sz="1400">
                <a:solidFill>
                  <a:srgbClr val="DCDCDC"/>
                </a:solidFill>
                <a:latin typeface="Consolas"/>
              </a:rPr>
              <a:t># Clone the project</a:t>
            </a:r>
          </a:p>
          <a:p>
            <a:r>
              <a:rPr sz="1400">
                <a:solidFill>
                  <a:srgbClr val="DCDCDC"/>
                </a:solidFill>
                <a:latin typeface="Consolas"/>
              </a:rPr>
              <a:t>$ git clone https://github.com/kasalehi/lesmills.git</a:t>
            </a:r>
          </a:p>
          <a:p>
            <a:r>
              <a:rPr sz="1400">
                <a:solidFill>
                  <a:srgbClr val="DCDCDC"/>
                </a:solidFill>
                <a:latin typeface="Consolas"/>
              </a:rPr>
              <a:t>$ cd lesmills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Les Mills • Retention Prediction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Step 2 — Start Airflow with Astro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97280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Calibri"/>
              </a:rPr>
              <a:t>One command launches the whole environment.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6400800" cy="1828800"/>
          </a:xfrm>
          <a:prstGeom prst="roundRect">
            <a:avLst/>
          </a:prstGeom>
          <a:solidFill>
            <a:srgbClr val="1E1E1E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6035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DCDCDC"/>
                </a:solidFill>
                <a:latin typeface="Consolas"/>
              </a:rPr>
              <a:t># from inside the project folder</a:t>
            </a:r>
          </a:p>
          <a:p>
            <a:r>
              <a:rPr sz="1400">
                <a:solidFill>
                  <a:srgbClr val="DCDCDC"/>
                </a:solidFill>
                <a:latin typeface="Consolas"/>
              </a:rPr>
              <a:t>$ astro dev start</a:t>
            </a:r>
          </a:p>
          <a:p>
            <a:r>
              <a:rPr sz="1400">
                <a:solidFill>
                  <a:srgbClr val="DCDCDC"/>
                </a:solidFill>
                <a:latin typeface="Consolas"/>
              </a:rPr>
              <a:t/>
            </a:r>
          </a:p>
          <a:p>
            <a:r>
              <a:rPr sz="1400">
                <a:solidFill>
                  <a:srgbClr val="DCDCDC"/>
                </a:solidFill>
                <a:latin typeface="Consolas"/>
              </a:rPr>
              <a:t># Airflow UI:  http://localhost:8080</a:t>
            </a:r>
          </a:p>
          <a:p>
            <a:r>
              <a:rPr sz="1400">
                <a:solidFill>
                  <a:srgbClr val="DCDCDC"/>
                </a:solidFill>
                <a:latin typeface="Consolas"/>
              </a:rPr>
              <a:t># username: admin   password: 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828800"/>
            <a:ext cx="4389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This starts these containers: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28600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4002B"/>
                </a:solidFill>
              </a:rPr>
              <a:t>● </a:t>
            </a:r>
            <a:r>
              <a:rPr sz="1400">
                <a:solidFill>
                  <a:srgbClr val="2B2B2B"/>
                </a:solidFill>
                <a:latin typeface="Calibri"/>
              </a:rPr>
              <a:t>Airflow Scheduler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E4002B"/>
                </a:solidFill>
              </a:rPr>
              <a:t>● </a:t>
            </a:r>
            <a:r>
              <a:rPr sz="1400">
                <a:solidFill>
                  <a:srgbClr val="2B2B2B"/>
                </a:solidFill>
                <a:latin typeface="Calibri"/>
              </a:rPr>
              <a:t>Airflow Webserver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E4002B"/>
                </a:solidFill>
              </a:rPr>
              <a:t>● </a:t>
            </a:r>
            <a:r>
              <a:rPr sz="1400">
                <a:solidFill>
                  <a:srgbClr val="2B2B2B"/>
                </a:solidFill>
                <a:latin typeface="Calibri"/>
              </a:rPr>
              <a:t>DAG Processor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E4002B"/>
                </a:solidFill>
              </a:rPr>
              <a:t>● </a:t>
            </a:r>
            <a:r>
              <a:rPr sz="1400">
                <a:solidFill>
                  <a:srgbClr val="2B2B2B"/>
                </a:solidFill>
                <a:latin typeface="Calibri"/>
              </a:rPr>
              <a:t>Triggerer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E4002B"/>
                </a:solidFill>
              </a:rPr>
              <a:t>● </a:t>
            </a:r>
            <a:r>
              <a:rPr sz="1400">
                <a:solidFill>
                  <a:srgbClr val="2B2B2B"/>
                </a:solidFill>
                <a:latin typeface="Calibri"/>
              </a:rPr>
              <a:t>PostgreSQL metadata 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If a port is in use or something is wrong, Astro tells you in the terminal output.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Les Mills • Retention Prediction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17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Step 3 — Trigger the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97280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Calibri"/>
              </a:rPr>
              <a:t>Run the workflow once to generate predictions.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6217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E4002B"/>
                </a:solidFill>
              </a:rPr>
              <a:t>● </a:t>
            </a:r>
            <a:r>
              <a:rPr sz="1700">
                <a:solidFill>
                  <a:srgbClr val="2B2B2B"/>
                </a:solidFill>
                <a:latin typeface="Calibri"/>
              </a:rPr>
              <a:t>Open http://localhost:8080 in a browser.</a:t>
            </a:r>
          </a:p>
          <a:p>
            <a:pPr algn="l">
              <a:lnSpc>
                <a:spcPct val="125000"/>
              </a:lnSpc>
            </a:pPr>
            <a:r>
              <a:rPr sz="1700" b="1">
                <a:solidFill>
                  <a:srgbClr val="E4002B"/>
                </a:solidFill>
              </a:rPr>
              <a:t>● </a:t>
            </a:r>
            <a:r>
              <a:rPr sz="1700">
                <a:solidFill>
                  <a:srgbClr val="2B2B2B"/>
                </a:solidFill>
                <a:latin typeface="Calibri"/>
              </a:rPr>
              <a:t>Log in with admin / admin.</a:t>
            </a:r>
          </a:p>
          <a:p>
            <a:pPr algn="l">
              <a:lnSpc>
                <a:spcPct val="125000"/>
              </a:lnSpc>
            </a:pPr>
            <a:r>
              <a:rPr sz="1700" b="1">
                <a:solidFill>
                  <a:srgbClr val="E4002B"/>
                </a:solidFill>
              </a:rPr>
              <a:t>● </a:t>
            </a:r>
            <a:r>
              <a:rPr sz="1700">
                <a:solidFill>
                  <a:srgbClr val="2B2B2B"/>
                </a:solidFill>
                <a:latin typeface="Calibri"/>
              </a:rPr>
              <a:t>Find the DAG named 'lesmills'.</a:t>
            </a:r>
          </a:p>
          <a:p>
            <a:pPr algn="l">
              <a:lnSpc>
                <a:spcPct val="125000"/>
              </a:lnSpc>
            </a:pPr>
            <a:r>
              <a:rPr sz="1700" b="1">
                <a:solidFill>
                  <a:srgbClr val="E4002B"/>
                </a:solidFill>
              </a:rPr>
              <a:t>● </a:t>
            </a:r>
            <a:r>
              <a:rPr sz="1700">
                <a:solidFill>
                  <a:srgbClr val="2B2B2B"/>
                </a:solidFill>
                <a:latin typeface="Calibri"/>
              </a:rPr>
              <a:t>Toggle it ON (the slider on the left).</a:t>
            </a:r>
          </a:p>
          <a:p>
            <a:pPr algn="l">
              <a:lnSpc>
                <a:spcPct val="125000"/>
              </a:lnSpc>
            </a:pPr>
            <a:r>
              <a:rPr sz="1700" b="1">
                <a:solidFill>
                  <a:srgbClr val="E4002B"/>
                </a:solidFill>
              </a:rPr>
              <a:t>● </a:t>
            </a:r>
            <a:r>
              <a:rPr sz="1700">
                <a:solidFill>
                  <a:srgbClr val="2B2B2B"/>
                </a:solidFill>
                <a:latin typeface="Calibri"/>
              </a:rPr>
              <a:t>Click 'Trigger DAG' (the play button).</a:t>
            </a:r>
          </a:p>
          <a:p>
            <a:pPr algn="l">
              <a:lnSpc>
                <a:spcPct val="125000"/>
              </a:lnSpc>
            </a:pPr>
            <a:r>
              <a:rPr sz="1700" b="1">
                <a:solidFill>
                  <a:srgbClr val="E4002B"/>
                </a:solidFill>
              </a:rPr>
              <a:t>● </a:t>
            </a:r>
            <a:r>
              <a:rPr sz="1700">
                <a:solidFill>
                  <a:srgbClr val="2B2B2B"/>
                </a:solidFill>
                <a:latin typeface="Calibri"/>
              </a:rPr>
              <a:t>Watch each step turn green as it completes.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4389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Output saved to: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286000"/>
            <a:ext cx="4389120" cy="914400"/>
          </a:xfrm>
          <a:prstGeom prst="roundRect">
            <a:avLst/>
          </a:prstGeom>
          <a:solidFill>
            <a:srgbClr val="1E1E1E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0" y="242316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DCDCDC"/>
                </a:solidFill>
                <a:latin typeface="Consolas"/>
              </a:rPr>
              <a:t>include/data/predictions.csv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383280"/>
            <a:ext cx="4389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If a step fails: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84048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4002B"/>
                </a:solidFill>
              </a:rPr>
              <a:t>● </a:t>
            </a:r>
            <a:r>
              <a:rPr sz="1400">
                <a:solidFill>
                  <a:srgbClr val="2B2B2B"/>
                </a:solidFill>
                <a:latin typeface="Calibri"/>
              </a:rPr>
              <a:t>Click the red square in the UI.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E4002B"/>
                </a:solidFill>
              </a:rPr>
              <a:t>● </a:t>
            </a:r>
            <a:r>
              <a:rPr sz="1400">
                <a:solidFill>
                  <a:srgbClr val="2B2B2B"/>
                </a:solidFill>
                <a:latin typeface="Calibri"/>
              </a:rPr>
              <a:t>Open the 'Logs' tab.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E4002B"/>
                </a:solidFill>
              </a:rPr>
              <a:t>● </a:t>
            </a:r>
            <a:r>
              <a:rPr sz="1400">
                <a:solidFill>
                  <a:srgbClr val="2B2B2B"/>
                </a:solidFill>
                <a:latin typeface="Calibri"/>
              </a:rPr>
              <a:t>Read the error message.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E4002B"/>
                </a:solidFill>
              </a:rPr>
              <a:t>● </a:t>
            </a:r>
            <a:r>
              <a:rPr sz="1400">
                <a:solidFill>
                  <a:srgbClr val="2B2B2B"/>
                </a:solidFill>
                <a:latin typeface="Calibri"/>
              </a:rPr>
              <a:t>Click 'Clear' to retry the step.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Les Mills • Retention Prediction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18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Step 4 — Run the Streamlit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97280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Calibri"/>
              </a:rPr>
              <a:t>Open the friendly UI for the business team.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7315200" cy="2286000"/>
          </a:xfrm>
          <a:prstGeom prst="roundRect">
            <a:avLst/>
          </a:prstGeom>
          <a:solidFill>
            <a:srgbClr val="1E1E1E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6949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DCDCDC"/>
                </a:solidFill>
                <a:latin typeface="Consolas"/>
              </a:rPr>
              <a:t># enter the running container</a:t>
            </a:r>
          </a:p>
          <a:p>
            <a:r>
              <a:rPr sz="1400">
                <a:solidFill>
                  <a:srgbClr val="DCDCDC"/>
                </a:solidFill>
                <a:latin typeface="Consolas"/>
              </a:rPr>
              <a:t>$ astro dev bash</a:t>
            </a:r>
          </a:p>
          <a:p>
            <a:r>
              <a:rPr sz="1400">
                <a:solidFill>
                  <a:srgbClr val="DCDCDC"/>
                </a:solidFill>
                <a:latin typeface="Consolas"/>
              </a:rPr>
              <a:t/>
            </a:r>
          </a:p>
          <a:p>
            <a:r>
              <a:rPr sz="1400">
                <a:solidFill>
                  <a:srgbClr val="DCDCDC"/>
                </a:solidFill>
                <a:latin typeface="Consolas"/>
              </a:rPr>
              <a:t># launch streamlit</a:t>
            </a:r>
          </a:p>
          <a:p>
            <a:r>
              <a:rPr sz="1400">
                <a:solidFill>
                  <a:srgbClr val="DCDCDC"/>
                </a:solidFill>
                <a:latin typeface="Consolas"/>
              </a:rPr>
              <a:t>$ streamlit run include/lesmills_project/streamlit.py \</a:t>
            </a:r>
          </a:p>
          <a:p>
            <a:r>
              <a:rPr sz="1400">
                <a:solidFill>
                  <a:srgbClr val="DCDCDC"/>
                </a:solidFill>
                <a:latin typeface="Consolas"/>
              </a:rPr>
              <a:t>    --server.port 8501 --server.address 0.0.0.0</a:t>
            </a:r>
          </a:p>
          <a:p>
            <a:r>
              <a:rPr sz="1400">
                <a:solidFill>
                  <a:srgbClr val="DCDCDC"/>
                </a:solidFill>
                <a:latin typeface="Consolas"/>
              </a:rPr>
              <a:t/>
            </a:r>
          </a:p>
          <a:p>
            <a:r>
              <a:rPr sz="1400">
                <a:solidFill>
                  <a:srgbClr val="DCDCDC"/>
                </a:solidFill>
                <a:latin typeface="Consolas"/>
              </a:rPr>
              <a:t># Open in browser:  http://localhost:8501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474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What you can do: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2860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4002B"/>
                </a:solidFill>
              </a:rPr>
              <a:t>● </a:t>
            </a:r>
            <a:r>
              <a:rPr sz="1400">
                <a:solidFill>
                  <a:srgbClr val="2B2B2B"/>
                </a:solidFill>
                <a:latin typeface="Calibri"/>
              </a:rPr>
              <a:t>Upload a CSV.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E4002B"/>
                </a:solidFill>
              </a:rPr>
              <a:t>● </a:t>
            </a:r>
            <a:r>
              <a:rPr sz="1400">
                <a:solidFill>
                  <a:srgbClr val="2B2B2B"/>
                </a:solidFill>
                <a:latin typeface="Calibri"/>
              </a:rPr>
              <a:t>Run predictions.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E4002B"/>
                </a:solidFill>
              </a:rPr>
              <a:t>● </a:t>
            </a:r>
            <a:r>
              <a:rPr sz="1400">
                <a:solidFill>
                  <a:srgbClr val="2B2B2B"/>
                </a:solidFill>
                <a:latin typeface="Calibri"/>
              </a:rPr>
              <a:t>View results.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E4002B"/>
                </a:solidFill>
              </a:rPr>
              <a:t>● </a:t>
            </a:r>
            <a:r>
              <a:rPr sz="1400">
                <a:solidFill>
                  <a:srgbClr val="2B2B2B"/>
                </a:solidFill>
                <a:latin typeface="Calibri"/>
              </a:rPr>
              <a:t>Download outputs.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Les Mills • Retention Prediction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How to run — visual flowchart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97280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Calibri"/>
              </a:rPr>
              <a:t>From a fresh machine to a working dashboard.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3767" y="2103120"/>
            <a:ext cx="18288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40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75207" y="2194560"/>
            <a:ext cx="365760" cy="365760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5207" y="2221992"/>
            <a:ext cx="365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207" y="2514600"/>
            <a:ext cx="1645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Install</a:t>
            </a:r>
          </a:p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prerequisites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207" y="2971800"/>
            <a:ext cx="1645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Calibri"/>
              </a:rPr>
              <a:t>Docker, Astro,</a:t>
            </a:r>
          </a:p>
          <a:p>
            <a:pPr algn="ctr"/>
            <a:r>
              <a:rPr sz="1000" b="0">
                <a:solidFill>
                  <a:srgbClr val="6B6B6B"/>
                </a:solidFill>
                <a:latin typeface="Calibri"/>
              </a:rPr>
              <a:t>Git, Python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730855" y="2606040"/>
            <a:ext cx="283464" cy="274320"/>
          </a:xfrm>
          <a:prstGeom prst="rightArrow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83767" y="3657600"/>
            <a:ext cx="1828800" cy="502920"/>
          </a:xfrm>
          <a:prstGeom prst="roundRect">
            <a:avLst/>
          </a:prstGeom>
          <a:solidFill>
            <a:srgbClr val="F0F9F3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9487" y="3730752"/>
            <a:ext cx="1737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>
                <a:solidFill>
                  <a:srgbClr val="2E8B57"/>
                </a:solidFill>
                <a:latin typeface="Calibri"/>
              </a:rPr>
              <a:t>✓ docker --version works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79879" y="3383280"/>
            <a:ext cx="36576" cy="2743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32607" y="2103120"/>
            <a:ext cx="18288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40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124047" y="2194560"/>
            <a:ext cx="365760" cy="365760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24047" y="2221992"/>
            <a:ext cx="365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4047" y="2514600"/>
            <a:ext cx="1645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astro dev start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24047" y="2971800"/>
            <a:ext cx="1645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Calibri"/>
              </a:rPr>
              <a:t>Launches Airflow</a:t>
            </a:r>
          </a:p>
          <a:p>
            <a:pPr algn="ctr"/>
            <a:r>
              <a:rPr sz="1000" b="0">
                <a:solidFill>
                  <a:srgbClr val="6B6B6B"/>
                </a:solidFill>
                <a:latin typeface="Calibri"/>
              </a:rPr>
              <a:t>in Docker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879695" y="2606040"/>
            <a:ext cx="283464" cy="274320"/>
          </a:xfrm>
          <a:prstGeom prst="rightArrow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032607" y="3657600"/>
            <a:ext cx="1828800" cy="502920"/>
          </a:xfrm>
          <a:prstGeom prst="roundRect">
            <a:avLst/>
          </a:prstGeom>
          <a:solidFill>
            <a:srgbClr val="F0F9F3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78327" y="3730752"/>
            <a:ext cx="1737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>
                <a:solidFill>
                  <a:srgbClr val="2E8B57"/>
                </a:solidFill>
                <a:latin typeface="Calibri"/>
              </a:rPr>
              <a:t>✓ http://localhost:8080 opens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28719" y="3383280"/>
            <a:ext cx="36576" cy="2743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181447" y="2103120"/>
            <a:ext cx="18288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40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272887" y="2194560"/>
            <a:ext cx="365760" cy="365760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72887" y="2221992"/>
            <a:ext cx="365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72887" y="2514600"/>
            <a:ext cx="1645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Trigger</a:t>
            </a:r>
          </a:p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the DAG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72887" y="2971800"/>
            <a:ext cx="1645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Calibri"/>
              </a:rPr>
              <a:t>Open UI →</a:t>
            </a:r>
          </a:p>
          <a:p>
            <a:pPr algn="ctr"/>
            <a:r>
              <a:rPr sz="1000" b="0">
                <a:solidFill>
                  <a:srgbClr val="6B6B6B"/>
                </a:solidFill>
                <a:latin typeface="Calibri"/>
              </a:rPr>
              <a:t>click 'Trigger'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028535" y="2606040"/>
            <a:ext cx="283464" cy="274320"/>
          </a:xfrm>
          <a:prstGeom prst="rightArrow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181447" y="3657600"/>
            <a:ext cx="1828800" cy="502920"/>
          </a:xfrm>
          <a:prstGeom prst="roundRect">
            <a:avLst/>
          </a:prstGeom>
          <a:solidFill>
            <a:srgbClr val="F0F9F3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27167" y="3730752"/>
            <a:ext cx="1737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>
                <a:solidFill>
                  <a:srgbClr val="2E8B57"/>
                </a:solidFill>
                <a:latin typeface="Calibri"/>
              </a:rPr>
              <a:t>✓ All tasks turn green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77559" y="3383280"/>
            <a:ext cx="36576" cy="2743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330287" y="2103120"/>
            <a:ext cx="18288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40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421727" y="2194560"/>
            <a:ext cx="365760" cy="365760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21727" y="2221992"/>
            <a:ext cx="365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21727" y="2514600"/>
            <a:ext cx="1645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Open</a:t>
            </a:r>
          </a:p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Streamlit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21727" y="2971800"/>
            <a:ext cx="1645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Calibri"/>
              </a:rPr>
              <a:t>streamlit run …</a:t>
            </a:r>
          </a:p>
          <a:p>
            <a:pPr algn="ctr"/>
            <a:r>
              <a:rPr sz="1000" b="0">
                <a:solidFill>
                  <a:srgbClr val="6B6B6B"/>
                </a:solidFill>
                <a:latin typeface="Calibri"/>
              </a:rPr>
              <a:t>port 8501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9177375" y="2606040"/>
            <a:ext cx="283464" cy="274320"/>
          </a:xfrm>
          <a:prstGeom prst="rightArrow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330287" y="3657600"/>
            <a:ext cx="1828800" cy="502920"/>
          </a:xfrm>
          <a:prstGeom prst="roundRect">
            <a:avLst/>
          </a:prstGeom>
          <a:solidFill>
            <a:srgbClr val="F0F9F3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76007" y="3730752"/>
            <a:ext cx="1737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>
                <a:solidFill>
                  <a:srgbClr val="2E8B57"/>
                </a:solidFill>
                <a:latin typeface="Calibri"/>
              </a:rPr>
              <a:t>✓ http://localhost:8501 opens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6399" y="3383280"/>
            <a:ext cx="36576" cy="2743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479127" y="2103120"/>
            <a:ext cx="1828800" cy="1280160"/>
          </a:xfrm>
          <a:prstGeom prst="ellipse">
            <a:avLst/>
          </a:prstGeom>
          <a:solidFill>
            <a:srgbClr val="E8F5EC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70567" y="2514600"/>
            <a:ext cx="1645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2E8B57"/>
                </a:solidFill>
                <a:latin typeface="Calibri"/>
              </a:rPr>
              <a:t>Dashboard</a:t>
            </a:r>
          </a:p>
          <a:p>
            <a:pPr algn="ctr"/>
            <a:r>
              <a:rPr sz="1400" b="1">
                <a:solidFill>
                  <a:srgbClr val="2E8B57"/>
                </a:solidFill>
                <a:latin typeface="Calibri"/>
              </a:rPr>
              <a:t>ready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70567" y="2971800"/>
            <a:ext cx="1645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Calibri"/>
              </a:rPr>
              <a:t>View predictions</a:t>
            </a:r>
          </a:p>
          <a:p>
            <a:pPr algn="ctr"/>
            <a:r>
              <a:rPr sz="1000" b="0">
                <a:solidFill>
                  <a:srgbClr val="6B6B6B"/>
                </a:solidFill>
                <a:latin typeface="Calibri"/>
              </a:rPr>
              <a:t>in browser</a:t>
            </a:r>
          </a:p>
        </p:txBody>
      </p:sp>
      <p:sp>
        <p:nvSpPr>
          <p:cNvPr id="46" name="Diamond 45"/>
          <p:cNvSpPr/>
          <p:nvPr/>
        </p:nvSpPr>
        <p:spPr>
          <a:xfrm>
            <a:off x="640080" y="4937760"/>
            <a:ext cx="2560320" cy="1188720"/>
          </a:xfrm>
          <a:prstGeom prst="diamond">
            <a:avLst/>
          </a:prstGeom>
          <a:solidFill>
            <a:srgbClr val="FFF5E8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5349240"/>
            <a:ext cx="25603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E67E22"/>
                </a:solidFill>
                <a:latin typeface="Calibri"/>
              </a:rPr>
              <a:t>Step failed?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3246120" y="5440680"/>
            <a:ext cx="640080" cy="228600"/>
          </a:xfrm>
          <a:prstGeom prst="rightArrow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46120" y="5074920"/>
            <a:ext cx="640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E67E22"/>
                </a:solidFill>
                <a:latin typeface="Calibri"/>
              </a:rPr>
              <a:t>Yes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931920" y="4937760"/>
            <a:ext cx="76809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0" y="502920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E67E22"/>
                </a:solidFill>
                <a:latin typeface="Calibri"/>
              </a:rPr>
              <a:t>→ Debug guide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0" y="53492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E67E22"/>
                </a:solidFill>
              </a:rPr>
              <a:t>● </a:t>
            </a:r>
            <a:r>
              <a:rPr sz="1100">
                <a:solidFill>
                  <a:srgbClr val="2B2B2B"/>
                </a:solidFill>
                <a:latin typeface="Calibri"/>
              </a:rPr>
              <a:t>Read the error in the terminal or Airflow Logs tab.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E67E22"/>
                </a:solidFill>
              </a:rPr>
              <a:t>● </a:t>
            </a:r>
            <a:r>
              <a:rPr sz="1100">
                <a:solidFill>
                  <a:srgbClr val="2B2B2B"/>
                </a:solidFill>
                <a:latin typeface="Calibri"/>
              </a:rPr>
              <a:t>Try: astro dev kill → astro dev start, then re-trigger the DAG.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E67E22"/>
                </a:solidFill>
              </a:rPr>
              <a:t>● </a:t>
            </a:r>
            <a:r>
              <a:rPr sz="1100">
                <a:solidFill>
                  <a:srgbClr val="2B2B2B"/>
                </a:solidFill>
                <a:latin typeface="Calibri"/>
              </a:rPr>
              <a:t>Still stuck? See slides 24 (common issues) and 25 (where to look).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Les Mills • Retention Prediction Platform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The Prediction DAG — visualised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97280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Calibri"/>
              </a:rPr>
              <a:t>What actually runs every day inside Airflow.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1703" y="2103120"/>
            <a:ext cx="14630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40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1703" y="2103120"/>
            <a:ext cx="1463040" cy="292608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1703" y="2139696"/>
            <a:ext cx="1463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Task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7423" y="2514600"/>
            <a:ext cx="1371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Consolas"/>
              </a:rPr>
              <a:t>read_data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7423" y="2926080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>
                <a:solidFill>
                  <a:srgbClr val="2B2B2B"/>
                </a:solidFill>
                <a:latin typeface="Calibri"/>
              </a:rPr>
              <a:t>Pull raw data</a:t>
            </a:r>
          </a:p>
          <a:p>
            <a:pPr algn="ctr"/>
            <a:r>
              <a:rPr sz="1000" b="0">
                <a:solidFill>
                  <a:srgbClr val="2B2B2B"/>
                </a:solidFill>
                <a:latin typeface="Calibri"/>
              </a:rPr>
              <a:t>from SQL Server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843887" y="2651760"/>
            <a:ext cx="182880" cy="274320"/>
          </a:xfrm>
          <a:prstGeom prst="rightArrow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035911" y="2103120"/>
            <a:ext cx="14630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40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35911" y="2103120"/>
            <a:ext cx="1463040" cy="292608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35911" y="2139696"/>
            <a:ext cx="1463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Task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81631" y="2514600"/>
            <a:ext cx="1371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Consolas"/>
              </a:rPr>
              <a:t>snapshots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81631" y="2926080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>
                <a:solidFill>
                  <a:srgbClr val="2B2B2B"/>
                </a:solidFill>
                <a:latin typeface="Calibri"/>
              </a:rPr>
              <a:t>Freeze member</a:t>
            </a:r>
          </a:p>
          <a:p>
            <a:pPr algn="ctr"/>
            <a:r>
              <a:rPr sz="1000" b="0">
                <a:solidFill>
                  <a:srgbClr val="2B2B2B"/>
                </a:solidFill>
                <a:latin typeface="Calibri"/>
              </a:rPr>
              <a:t>snapshot in time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508095" y="2651760"/>
            <a:ext cx="182880" cy="274320"/>
          </a:xfrm>
          <a:prstGeom prst="rightArrow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700119" y="2103120"/>
            <a:ext cx="14630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40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00119" y="2103120"/>
            <a:ext cx="1463040" cy="292608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0119" y="2139696"/>
            <a:ext cx="1463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Task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5839" y="2514600"/>
            <a:ext cx="1371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Consolas"/>
              </a:rPr>
              <a:t>ingest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5839" y="2926080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>
                <a:solidFill>
                  <a:srgbClr val="2B2B2B"/>
                </a:solidFill>
                <a:latin typeface="Calibri"/>
              </a:rPr>
              <a:t>Clean + merge</a:t>
            </a:r>
          </a:p>
          <a:p>
            <a:pPr algn="ctr"/>
            <a:r>
              <a:rPr sz="1000" b="0">
                <a:solidFill>
                  <a:srgbClr val="2B2B2B"/>
                </a:solidFill>
                <a:latin typeface="Calibri"/>
              </a:rPr>
              <a:t>features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172303" y="2651760"/>
            <a:ext cx="182880" cy="274320"/>
          </a:xfrm>
          <a:prstGeom prst="rightArrow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364327" y="2103120"/>
            <a:ext cx="14630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06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64327" y="2103120"/>
            <a:ext cx="1463040" cy="292608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64327" y="2139696"/>
            <a:ext cx="1463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Task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10047" y="2514600"/>
            <a:ext cx="1371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Consolas"/>
              </a:rPr>
              <a:t>predict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10047" y="2926080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>
                <a:solidFill>
                  <a:srgbClr val="2B2B2B"/>
                </a:solidFill>
                <a:latin typeface="Calibri"/>
              </a:rPr>
              <a:t>Run trained</a:t>
            </a:r>
          </a:p>
          <a:p>
            <a:pPr algn="ctr"/>
            <a:r>
              <a:rPr sz="1000" b="0">
                <a:solidFill>
                  <a:srgbClr val="2B2B2B"/>
                </a:solidFill>
                <a:latin typeface="Calibri"/>
              </a:rPr>
              <a:t>ML model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6836511" y="2651760"/>
            <a:ext cx="182880" cy="274320"/>
          </a:xfrm>
          <a:prstGeom prst="rightArrow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028535" y="2103120"/>
            <a:ext cx="14630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40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28535" y="2103120"/>
            <a:ext cx="1463040" cy="292608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28535" y="2139696"/>
            <a:ext cx="1463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Task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74255" y="2514600"/>
            <a:ext cx="1371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Consolas"/>
              </a:rPr>
              <a:t>final_merge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74255" y="2926080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>
                <a:solidFill>
                  <a:srgbClr val="2B2B2B"/>
                </a:solidFill>
                <a:latin typeface="Calibri"/>
              </a:rPr>
              <a:t>Combine SQL +</a:t>
            </a:r>
          </a:p>
          <a:p>
            <a:pPr algn="ctr"/>
            <a:r>
              <a:rPr sz="1000" b="0">
                <a:solidFill>
                  <a:srgbClr val="2B2B2B"/>
                </a:solidFill>
                <a:latin typeface="Calibri"/>
              </a:rPr>
              <a:t>predictions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8500719" y="2651760"/>
            <a:ext cx="182880" cy="274320"/>
          </a:xfrm>
          <a:prstGeom prst="rightArrow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692743" y="2103120"/>
            <a:ext cx="14630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692743" y="2103120"/>
            <a:ext cx="1463040" cy="29260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92743" y="2139696"/>
            <a:ext cx="1463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Task 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8463" y="2514600"/>
            <a:ext cx="1371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Consolas"/>
              </a:rPr>
              <a:t>upsert_to_sql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38463" y="2926080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>
                <a:solidFill>
                  <a:srgbClr val="2B2B2B"/>
                </a:solidFill>
                <a:latin typeface="Calibri"/>
              </a:rPr>
              <a:t>Save results</a:t>
            </a:r>
          </a:p>
          <a:p>
            <a:pPr algn="ctr"/>
            <a:r>
              <a:rPr sz="1000" b="0">
                <a:solidFill>
                  <a:srgbClr val="2B2B2B"/>
                </a:solidFill>
                <a:latin typeface="Calibri"/>
              </a:rPr>
              <a:t>to SQL Server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10164927" y="2651760"/>
            <a:ext cx="182880" cy="274320"/>
          </a:xfrm>
          <a:prstGeom prst="rightArrow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356951" y="2103120"/>
            <a:ext cx="14630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356951" y="2103120"/>
            <a:ext cx="1463040" cy="29260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56951" y="2139696"/>
            <a:ext cx="1463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Task 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02671" y="2514600"/>
            <a:ext cx="1371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Consolas"/>
              </a:rPr>
              <a:t>streamlit_app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02671" y="2926080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>
                <a:solidFill>
                  <a:srgbClr val="2B2B2B"/>
                </a:solidFill>
                <a:latin typeface="Calibri"/>
              </a:rPr>
              <a:t>Launch the</a:t>
            </a:r>
          </a:p>
          <a:p>
            <a:pPr algn="ctr"/>
            <a:r>
              <a:rPr sz="1000" b="0">
                <a:solidFill>
                  <a:srgbClr val="2B2B2B"/>
                </a:solidFill>
                <a:latin typeface="Calibri"/>
              </a:rPr>
              <a:t>dashboard</a:t>
            </a:r>
          </a:p>
        </p:txBody>
      </p:sp>
      <p:sp>
        <p:nvSpPr>
          <p:cNvPr id="48" name="Parallelogram 47"/>
          <p:cNvSpPr/>
          <p:nvPr/>
        </p:nvSpPr>
        <p:spPr>
          <a:xfrm>
            <a:off x="457200" y="3931920"/>
            <a:ext cx="1828800" cy="640080"/>
          </a:xfrm>
          <a:prstGeom prst="parallelogram">
            <a:avLst/>
          </a:prstGeom>
          <a:solidFill>
            <a:srgbClr val="F5F5F5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4069080"/>
            <a:ext cx="1828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Calibri"/>
              </a:rPr>
              <a:t>SQL Server (in)</a:t>
            </a:r>
          </a:p>
        </p:txBody>
      </p:sp>
      <p:sp>
        <p:nvSpPr>
          <p:cNvPr id="50" name="Parallelogram 49"/>
          <p:cNvSpPr/>
          <p:nvPr/>
        </p:nvSpPr>
        <p:spPr>
          <a:xfrm>
            <a:off x="7315200" y="3931920"/>
            <a:ext cx="2103120" cy="640080"/>
          </a:xfrm>
          <a:prstGeom prst="parallelogram">
            <a:avLst/>
          </a:prstGeom>
          <a:solidFill>
            <a:srgbClr val="F5F5F5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0" y="4069080"/>
            <a:ext cx="2103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Calibri"/>
              </a:rPr>
              <a:t>SQL Server (out)</a:t>
            </a:r>
          </a:p>
        </p:txBody>
      </p:sp>
      <p:sp>
        <p:nvSpPr>
          <p:cNvPr id="52" name="Parallelogram 51"/>
          <p:cNvSpPr/>
          <p:nvPr/>
        </p:nvSpPr>
        <p:spPr>
          <a:xfrm>
            <a:off x="9692640" y="3931920"/>
            <a:ext cx="2103120" cy="640080"/>
          </a:xfrm>
          <a:prstGeom prst="parallelogram">
            <a:avLst/>
          </a:prstGeom>
          <a:solidFill>
            <a:srgbClr val="F5F5F5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92640" y="4069080"/>
            <a:ext cx="2103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Calibri"/>
              </a:rPr>
              <a:t>Browser (8501)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4846320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Legend: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5303520"/>
            <a:ext cx="274320" cy="2286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5840" y="525780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Calibri"/>
              </a:rPr>
              <a:t>Data prep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" y="5669280"/>
            <a:ext cx="274320" cy="228600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05840" y="562356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Calibri"/>
              </a:rPr>
              <a:t>ML inference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" y="6035040"/>
            <a:ext cx="274320" cy="2286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" y="598932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Calibri"/>
              </a:rPr>
              <a:t>Persist + serve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0" y="4937760"/>
            <a:ext cx="6858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Schedule:  @daily  (also manually triggerable)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9200" y="5349240"/>
            <a:ext cx="6858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onsolas"/>
              </a:rPr>
              <a:t>DAG ID:  Prediction      File:  dags/prediction.py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0" y="5715000"/>
            <a:ext cx="6858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onsolas"/>
              </a:rPr>
              <a:t>Output:  include/data/predict/final.csv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Les Mills • Retention Prediction Platform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The Training DAG — visualised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97280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Calibri"/>
              </a:rPr>
              <a:t>How the ML model gets (re-)trained.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20116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40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2011680" cy="292608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39696"/>
            <a:ext cx="2011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Task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14600"/>
            <a:ext cx="19202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Consolas"/>
              </a:rPr>
              <a:t>read_data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71800"/>
            <a:ext cx="1920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2B2B2B"/>
                </a:solidFill>
                <a:latin typeface="Calibri"/>
              </a:rPr>
              <a:t>Pull historical</a:t>
            </a:r>
          </a:p>
          <a:p>
            <a:pPr algn="ctr"/>
            <a:r>
              <a:rPr sz="1100" b="0">
                <a:solidFill>
                  <a:srgbClr val="2B2B2B"/>
                </a:solidFill>
                <a:latin typeface="Calibri"/>
              </a:rPr>
              <a:t>member data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78608" y="2651760"/>
            <a:ext cx="283464" cy="274320"/>
          </a:xfrm>
          <a:prstGeom prst="rightArrow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80360" y="2103120"/>
            <a:ext cx="20116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40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80360" y="2103120"/>
            <a:ext cx="2011680" cy="292608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2139696"/>
            <a:ext cx="2011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Task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514600"/>
            <a:ext cx="19202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Consolas"/>
              </a:rPr>
              <a:t>snapshots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971800"/>
            <a:ext cx="1920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2B2B2B"/>
                </a:solidFill>
                <a:latin typeface="Calibri"/>
              </a:rPr>
              <a:t>Freeze training</a:t>
            </a:r>
          </a:p>
          <a:p>
            <a:pPr algn="ctr"/>
            <a:r>
              <a:rPr sz="1100" b="0">
                <a:solidFill>
                  <a:srgbClr val="2B2B2B"/>
                </a:solidFill>
                <a:latin typeface="Calibri"/>
              </a:rPr>
              <a:t>snapshot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910328" y="2651760"/>
            <a:ext cx="283464" cy="274320"/>
          </a:xfrm>
          <a:prstGeom prst="rightArrow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12080" y="2103120"/>
            <a:ext cx="20116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40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2080" y="2103120"/>
            <a:ext cx="2011680" cy="292608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2139696"/>
            <a:ext cx="2011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Task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2514600"/>
            <a:ext cx="19202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Consolas"/>
              </a:rPr>
              <a:t>ingest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2971800"/>
            <a:ext cx="1920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2B2B2B"/>
                </a:solidFill>
                <a:latin typeface="Calibri"/>
              </a:rPr>
              <a:t>Clean + merge</a:t>
            </a:r>
          </a:p>
          <a:p>
            <a:pPr algn="ctr"/>
            <a:r>
              <a:rPr sz="1100" b="0">
                <a:solidFill>
                  <a:srgbClr val="2B2B2B"/>
                </a:solidFill>
                <a:latin typeface="Calibri"/>
              </a:rPr>
              <a:t>features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242048" y="2651760"/>
            <a:ext cx="283464" cy="274320"/>
          </a:xfrm>
          <a:prstGeom prst="rightArrow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43800" y="2103120"/>
            <a:ext cx="20116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06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43800" y="2103120"/>
            <a:ext cx="2011680" cy="292608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3800" y="2139696"/>
            <a:ext cx="2011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Task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2514600"/>
            <a:ext cx="19202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Consolas"/>
              </a:rPr>
              <a:t>train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2971800"/>
            <a:ext cx="1920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2B2B2B"/>
                </a:solidFill>
                <a:latin typeface="Calibri"/>
              </a:rPr>
              <a:t>Fit Random Forest</a:t>
            </a:r>
          </a:p>
          <a:p>
            <a:pPr algn="ctr"/>
            <a:r>
              <a:rPr sz="1100" b="0">
                <a:solidFill>
                  <a:srgbClr val="2B2B2B"/>
                </a:solidFill>
                <a:latin typeface="Calibri"/>
              </a:rPr>
              <a:t>+ Gradient Boosting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49640" y="3474720"/>
            <a:ext cx="36576" cy="457200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931920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Outputs (saved to include/artifacts/):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023360"/>
            <a:ext cx="2011680" cy="1188720"/>
          </a:xfrm>
          <a:prstGeom prst="roundRect">
            <a:avLst/>
          </a:prstGeom>
          <a:solidFill>
            <a:srgbClr val="F5F5F5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160520"/>
            <a:ext cx="1828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2E8B57"/>
                </a:solidFill>
                <a:latin typeface="Consolas"/>
              </a:rPr>
              <a:t>model_*.pkl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617720"/>
            <a:ext cx="1828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2B2B2B"/>
                </a:solidFill>
                <a:latin typeface="Calibri"/>
              </a:rPr>
              <a:t>Trained ML</a:t>
            </a:r>
          </a:p>
          <a:p>
            <a:pPr algn="ctr"/>
            <a:r>
              <a:rPr sz="1100" b="0">
                <a:solidFill>
                  <a:srgbClr val="2B2B2B"/>
                </a:solidFill>
                <a:latin typeface="Calibri"/>
              </a:rPr>
              <a:t>model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926080" y="4023360"/>
            <a:ext cx="2011680" cy="1188720"/>
          </a:xfrm>
          <a:prstGeom prst="roundRect">
            <a:avLst/>
          </a:prstGeom>
          <a:solidFill>
            <a:srgbClr val="F5F5F5"/>
          </a:solidFill>
          <a:ln>
            <a:solidFill>
              <a:srgbClr val="006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4160520"/>
            <a:ext cx="1828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006EB8"/>
                </a:solidFill>
                <a:latin typeface="Consolas"/>
              </a:rPr>
              <a:t>metrics_*.json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17520" y="4617720"/>
            <a:ext cx="1828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2B2B2B"/>
                </a:solidFill>
                <a:latin typeface="Calibri"/>
              </a:rPr>
              <a:t>Accuracy &amp;</a:t>
            </a:r>
          </a:p>
          <a:p>
            <a:pPr algn="ctr"/>
            <a:r>
              <a:rPr sz="1100" b="0">
                <a:solidFill>
                  <a:srgbClr val="2B2B2B"/>
                </a:solidFill>
                <a:latin typeface="Calibri"/>
              </a:rPr>
              <a:t>run stats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212080" y="4023360"/>
            <a:ext cx="2011680" cy="1188720"/>
          </a:xfrm>
          <a:prstGeom prst="roundRect">
            <a:avLst/>
          </a:prstGeom>
          <a:solidFill>
            <a:srgbClr val="F5F5F5"/>
          </a:solidFill>
          <a:ln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0" y="4160520"/>
            <a:ext cx="1828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6B6B6B"/>
                </a:solidFill>
                <a:latin typeface="Consolas"/>
              </a:rPr>
              <a:t>log_*.txt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0" y="4617720"/>
            <a:ext cx="1828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2B2B2B"/>
                </a:solidFill>
                <a:latin typeface="Calibri"/>
              </a:rPr>
              <a:t>Run log</a:t>
            </a:r>
          </a:p>
          <a:p>
            <a:pPr algn="ctr"/>
            <a:r>
              <a:rPr sz="1100" b="0">
                <a:solidFill>
                  <a:srgbClr val="2B2B2B"/>
                </a:solidFill>
                <a:latin typeface="Calibri"/>
              </a:rPr>
              <a:t>(human read)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0" y="3931920"/>
            <a:ext cx="39319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55280" y="4069080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E4002B"/>
                </a:solidFill>
                <a:latin typeface="Calibri"/>
              </a:rPr>
              <a:t>Training run details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80" y="4480560"/>
            <a:ext cx="3657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E4002B"/>
                </a:solidFill>
              </a:rPr>
              <a:t>● </a:t>
            </a:r>
            <a:r>
              <a:rPr sz="1100">
                <a:solidFill>
                  <a:srgbClr val="2B2B2B"/>
                </a:solidFill>
                <a:latin typeface="Calibri"/>
              </a:rPr>
              <a:t>DAG ID: ModelTrain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E4002B"/>
                </a:solidFill>
              </a:rPr>
              <a:t>● </a:t>
            </a:r>
            <a:r>
              <a:rPr sz="1100">
                <a:solidFill>
                  <a:srgbClr val="2B2B2B"/>
                </a:solidFill>
                <a:latin typeface="Calibri"/>
              </a:rPr>
              <a:t>File: dags/train.py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E4002B"/>
                </a:solidFill>
              </a:rPr>
              <a:t>● </a:t>
            </a:r>
            <a:r>
              <a:rPr sz="1100">
                <a:solidFill>
                  <a:srgbClr val="2B2B2B"/>
                </a:solidFill>
                <a:latin typeface="Calibri"/>
              </a:rPr>
              <a:t>Schedule: @daily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E4002B"/>
                </a:solidFill>
              </a:rPr>
              <a:t>● </a:t>
            </a:r>
            <a:r>
              <a:rPr sz="1100">
                <a:solidFill>
                  <a:srgbClr val="2B2B2B"/>
                </a:solidFill>
                <a:latin typeface="Calibri"/>
              </a:rPr>
              <a:t>Algorithms: Random Forest, Gradient Boosting (with GridSearchCV)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E4002B"/>
                </a:solidFill>
              </a:rPr>
              <a:t>● </a:t>
            </a:r>
            <a:r>
              <a:rPr sz="1100">
                <a:solidFill>
                  <a:srgbClr val="2B2B2B"/>
                </a:solidFill>
                <a:latin typeface="Calibri"/>
              </a:rPr>
              <a:t>Each run timestamps its artifacts.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Les Mills • Retention Prediction Platform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Useful commands — cheat sheet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97280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Calibri"/>
              </a:rPr>
              <a:t>Copy, paste, run.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E4002B"/>
                </a:solidFill>
                <a:latin typeface="Calibri"/>
              </a:rPr>
              <a:t>Astro / Airflow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03120"/>
            <a:ext cx="5486400" cy="2011680"/>
          </a:xfrm>
          <a:prstGeom prst="roundRect">
            <a:avLst/>
          </a:prstGeom>
          <a:solidFill>
            <a:srgbClr val="1E1E1E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DCDCDC"/>
                </a:solidFill>
                <a:latin typeface="Consolas"/>
              </a:rPr>
              <a:t>$ astro dev start          # start Airflow</a:t>
            </a:r>
          </a:p>
          <a:p>
            <a:r>
              <a:rPr sz="1400">
                <a:solidFill>
                  <a:srgbClr val="DCDCDC"/>
                </a:solidFill>
                <a:latin typeface="Consolas"/>
              </a:rPr>
              <a:t>$ astro dev stop           # stop Airflow</a:t>
            </a:r>
          </a:p>
          <a:p>
            <a:r>
              <a:rPr sz="1400">
                <a:solidFill>
                  <a:srgbClr val="DCDCDC"/>
                </a:solidFill>
                <a:latin typeface="Consolas"/>
              </a:rPr>
              <a:t>$ astro dev restart        # restart Airflow</a:t>
            </a:r>
          </a:p>
          <a:p>
            <a:r>
              <a:rPr sz="1400">
                <a:solidFill>
                  <a:srgbClr val="DCDCDC"/>
                </a:solidFill>
                <a:latin typeface="Consolas"/>
              </a:rPr>
              <a:t>$ astro dev kill           # force stop + cleanup</a:t>
            </a:r>
          </a:p>
          <a:p>
            <a:r>
              <a:rPr sz="1400">
                <a:solidFill>
                  <a:srgbClr val="DCDCDC"/>
                </a:solidFill>
                <a:latin typeface="Consolas"/>
              </a:rPr>
              <a:t>$ astro dev bash           # shell into container</a:t>
            </a:r>
          </a:p>
          <a:p>
            <a:r>
              <a:rPr sz="1400">
                <a:solidFill>
                  <a:srgbClr val="DCDCDC"/>
                </a:solidFill>
                <a:latin typeface="Consolas"/>
              </a:rPr>
              <a:t>$ astro dev logs           # follow logs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E4002B"/>
                </a:solidFill>
                <a:latin typeface="Calibri"/>
              </a:rPr>
              <a:t>Streamlit &amp; Python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03120"/>
            <a:ext cx="5486400" cy="2011680"/>
          </a:xfrm>
          <a:prstGeom prst="roundRect">
            <a:avLst/>
          </a:prstGeom>
          <a:solidFill>
            <a:srgbClr val="1E1E1E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2402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DCDCDC"/>
                </a:solidFill>
                <a:latin typeface="Consolas"/>
              </a:rPr>
              <a:t>$ streamlit run include/lesmills_project/streamlit.py</a:t>
            </a:r>
          </a:p>
          <a:p>
            <a:r>
              <a:rPr sz="1400">
                <a:solidFill>
                  <a:srgbClr val="DCDCDC"/>
                </a:solidFill>
                <a:latin typeface="Consolas"/>
              </a:rPr>
              <a:t>$ pip install -r requirements.txt</a:t>
            </a:r>
          </a:p>
          <a:p>
            <a:r>
              <a:rPr sz="1400">
                <a:solidFill>
                  <a:srgbClr val="DCDCDC"/>
                </a:solidFill>
                <a:latin typeface="Consolas"/>
              </a:rPr>
              <a:t>$ python -m src.les.train.run        # train model</a:t>
            </a:r>
          </a:p>
          <a:p>
            <a:r>
              <a:rPr sz="1400">
                <a:solidFill>
                  <a:srgbClr val="DCDCDC"/>
                </a:solidFill>
                <a:latin typeface="Consolas"/>
              </a:rPr>
              <a:t>$ python -m src.les.prediction.run   # run prediction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E4002B"/>
                </a:solidFill>
                <a:latin typeface="Calibri"/>
              </a:rPr>
              <a:t>Docker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663440"/>
            <a:ext cx="5486400" cy="1554480"/>
          </a:xfrm>
          <a:prstGeom prst="roundRect">
            <a:avLst/>
          </a:prstGeom>
          <a:solidFill>
            <a:srgbClr val="1E1E1E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80060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DCDCDC"/>
                </a:solidFill>
                <a:latin typeface="Consolas"/>
              </a:rPr>
              <a:t>$ docker ps               # list running containers</a:t>
            </a:r>
          </a:p>
          <a:p>
            <a:r>
              <a:rPr sz="1400">
                <a:solidFill>
                  <a:srgbClr val="DCDCDC"/>
                </a:solidFill>
                <a:latin typeface="Consolas"/>
              </a:rPr>
              <a:t>$ docker logs &lt;name&gt;      # view a container's logs</a:t>
            </a:r>
          </a:p>
          <a:p>
            <a:r>
              <a:rPr sz="1400">
                <a:solidFill>
                  <a:srgbClr val="DCDCDC"/>
                </a:solidFill>
                <a:latin typeface="Consolas"/>
              </a:rPr>
              <a:t>$ docker system prune     # free up disk 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29768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E4002B"/>
                </a:solidFill>
                <a:latin typeface="Calibri"/>
              </a:rPr>
              <a:t>Git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663440"/>
            <a:ext cx="5486400" cy="1554480"/>
          </a:xfrm>
          <a:prstGeom prst="roundRect">
            <a:avLst/>
          </a:prstGeom>
          <a:solidFill>
            <a:srgbClr val="1E1E1E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480060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DCDCDC"/>
                </a:solidFill>
                <a:latin typeface="Consolas"/>
              </a:rPr>
              <a:t>$ git status              # what changed</a:t>
            </a:r>
          </a:p>
          <a:p>
            <a:r>
              <a:rPr sz="1400">
                <a:solidFill>
                  <a:srgbClr val="DCDCDC"/>
                </a:solidFill>
                <a:latin typeface="Consolas"/>
              </a:rPr>
              <a:t>$ git pull                # get latest code</a:t>
            </a:r>
          </a:p>
          <a:p>
            <a:r>
              <a:rPr sz="1400">
                <a:solidFill>
                  <a:srgbClr val="DCDCDC"/>
                </a:solidFill>
                <a:latin typeface="Consolas"/>
              </a:rPr>
              <a:t>$ git checkout -b feature # new branch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Les Mills • Retention Prediction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Debugging — common issues &amp; fixes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97280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Calibri"/>
              </a:rPr>
              <a:t>What to do when something doesn't work.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2926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Docker not running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75688"/>
            <a:ext cx="2926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'Cannot connect to the Docker daemon.'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874520"/>
            <a:ext cx="7772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Calibri"/>
              </a:rPr>
              <a:t>→  Start Docker Desktop and wait for the whale icon.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423160"/>
            <a:ext cx="109728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2926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Port already in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670048"/>
            <a:ext cx="2926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'Bind for 0.0.0.0:8080 failed: port is already allocated.'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468880"/>
            <a:ext cx="7772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Calibri"/>
              </a:rPr>
              <a:t>→  Stop the other app, or run: astro dev start --webserver-port 8081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017520"/>
            <a:ext cx="109728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971800"/>
            <a:ext cx="2926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Airflow stuck / weird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264408"/>
            <a:ext cx="2926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DAG won't appear, or tasks hang in 'queued'.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063240"/>
            <a:ext cx="7772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Calibri"/>
              </a:rPr>
              <a:t>→  Run: astro dev kill   then   astro dev start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611880"/>
            <a:ext cx="109728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566160"/>
            <a:ext cx="2926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Pipeline task fails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858768"/>
            <a:ext cx="2926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A red box in the Airflow UI.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3657600"/>
            <a:ext cx="7772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Calibri"/>
              </a:rPr>
              <a:t>→  Click the task -&gt; open Logs -&gt; read the last error -&gt; Clear to retry.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206240"/>
            <a:ext cx="109728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160520"/>
            <a:ext cx="2926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Database connection error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453128"/>
            <a:ext cx="2926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'Login failed for user' / timeout to SQL Server.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4251960"/>
            <a:ext cx="7772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Calibri"/>
              </a:rPr>
              <a:t>→  Check VPN connection and credentials in your .env file.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800600"/>
            <a:ext cx="109728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754880"/>
            <a:ext cx="2926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Model file missing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047488"/>
            <a:ext cx="2926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'FileNotFoundError: model.pkl'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4846320"/>
            <a:ext cx="7772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Calibri"/>
              </a:rPr>
              <a:t>→  Re-train the model or copy model.pkl into include/artifacts/.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394960"/>
            <a:ext cx="109728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349240"/>
            <a:ext cx="2926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Streamlit shows blank page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641848"/>
            <a:ext cx="2926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Browser loads but no UI appears.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0" y="5440680"/>
            <a:ext cx="7772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Calibri"/>
              </a:rPr>
              <a:t>→  Check the terminal for Python errors; restart streamlit run.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Les Mills • Retention Prediction Platform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Where to look when things go wrong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97280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Calibri"/>
              </a:rPr>
              <a:t>A quick map of logs and files for diagnostics.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" cy="594360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Airflow UI logs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onsolas"/>
              </a:rPr>
              <a:t>http://localhost:8080  →  DAG  →  Task  →  Logs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920240"/>
            <a:ext cx="7498079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Calibri"/>
              </a:rPr>
              <a:t>Best place to start. Shows exactly what each step did.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42032"/>
            <a:ext cx="109728" cy="594360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496312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Astro / Docker logs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16352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onsolas"/>
              </a:rPr>
              <a:t>Run: astro dev logs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633472"/>
            <a:ext cx="7498079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Calibri"/>
              </a:rPr>
              <a:t>Shows the full output of the Airflow services.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255264"/>
            <a:ext cx="109728" cy="594360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209544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Streamlit terminal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529584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onsolas"/>
              </a:rPr>
              <a:t>The window where you ran 'streamlit run ...'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346704"/>
            <a:ext cx="7498079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Calibri"/>
              </a:rPr>
              <a:t>Python errors from the dashboard appear here.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968496"/>
            <a:ext cx="109728" cy="594360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22776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Project artifacts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242816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onsolas"/>
              </a:rPr>
              <a:t>include/artifacts/*.pkl  +  include/artifacts/log_*.txt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4059936"/>
            <a:ext cx="7498079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Calibri"/>
              </a:rPr>
              <a:t>Confirms the trained model and run logs exist.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681728"/>
            <a:ext cx="109728" cy="594360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636008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Output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956048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onsolas"/>
              </a:rPr>
              <a:t>include/data/predictions.csv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4773168"/>
            <a:ext cx="7498079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Calibri"/>
              </a:rPr>
              <a:t>Shows whether predictions actually got written.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394960"/>
            <a:ext cx="109728" cy="594360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34924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.env file (local)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66928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onsolas"/>
              </a:rPr>
              <a:t>Project root, never committed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5486400"/>
            <a:ext cx="7498079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Calibri"/>
              </a:rPr>
              <a:t>Holds DB credentials and secrets — check for typos.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Les Mills • Retention Prediction Platform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548640" cy="237744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0">
                <a:solidFill>
                  <a:srgbClr val="F5F5F5"/>
                </a:solidFill>
                <a:latin typeface="Calibri"/>
              </a:rPr>
              <a:t>Questions and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Calibri"/>
              </a:rPr>
              <a:t>Keyvan Salehi  •  Les Mills New Zealand  •  2025/11/12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